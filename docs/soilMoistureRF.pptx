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_rels/presentation.xml.rels" ContentType="application/vnd.openxmlformats-package.relationships+xml"/>
  <Override PartName="/ppt/media/image15.jpeg" ContentType="image/jpeg"/>
  <Override PartName="/ppt/media/image3.wmf" ContentType="image/x-wmf"/>
  <Override PartName="/ppt/media/image5.png" ContentType="image/png"/>
  <Override PartName="/ppt/media/image8.jpeg" ContentType="image/jpeg"/>
  <Override PartName="/ppt/media/image10.jpeg" ContentType="image/jpeg"/>
  <Override PartName="/ppt/media/image30.png" ContentType="image/png"/>
  <Override PartName="/ppt/media/image28.png" ContentType="image/png"/>
  <Override PartName="/ppt/media/image7.jpeg" ContentType="image/jpeg"/>
  <Override PartName="/ppt/media/image12.jpeg" ContentType="image/jpeg"/>
  <Override PartName="/ppt/media/image6.jpeg" ContentType="image/jpeg"/>
  <Override PartName="/ppt/media/image11.jpeg" ContentType="image/jpeg"/>
  <Override PartName="/ppt/media/image9.jpeg" ContentType="image/jpeg"/>
  <Override PartName="/ppt/media/image13.jpeg" ContentType="image/jpeg"/>
  <Override PartName="/ppt/media/image2.jpeg" ContentType="image/jpeg"/>
  <Override PartName="/ppt/media/image23.jpeg" ContentType="image/jpeg"/>
  <Override PartName="/ppt/media/image4.wmf" ContentType="image/x-wmf"/>
  <Override PartName="/ppt/media/image1.jpeg" ContentType="image/jpeg"/>
  <Override PartName="/ppt/media/image14.jpeg" ContentType="image/jpeg"/>
  <Override PartName="/ppt/media/image16.jpeg" ContentType="image/jpeg"/>
  <Override PartName="/ppt/media/image17.jpeg" ContentType="image/jpeg"/>
  <Override PartName="/ppt/media/image26.png" ContentType="image/png"/>
  <Override PartName="/ppt/media/image18.jpeg" ContentType="image/jpeg"/>
  <Override PartName="/ppt/media/image19.jpeg" ContentType="image/jpeg"/>
  <Override PartName="/ppt/media/image20.jpeg" ContentType="image/jpeg"/>
  <Override PartName="/ppt/media/image29.png" ContentType="image/png"/>
  <Override PartName="/ppt/media/image21.jpeg" ContentType="image/jpeg"/>
  <Override PartName="/ppt/media/image22.png" ContentType="image/png"/>
  <Override PartName="/ppt/media/image24.jpeg" ContentType="image/jpeg"/>
  <Override PartName="/ppt/media/image25.jpeg" ContentType="image/jpeg"/>
  <Override PartName="/ppt/media/image27.png" ContentType="image/png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107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74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</p:sld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8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7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3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4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4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7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9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3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4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5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6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0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2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6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7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8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9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wmf"/><Relationship Id="rId5" Type="http://schemas.openxmlformats.org/officeDocument/2006/relationships/image" Target="../media/image4.wmf"/><Relationship Id="rId6" Type="http://schemas.openxmlformats.org/officeDocument/2006/relationships/image" Target="../media/image5.png"/><Relationship Id="rId7" Type="http://schemas.openxmlformats.org/officeDocument/2006/relationships/slideLayout" Target="../slideLayouts/slideLayout1.xml"/><Relationship Id="rId8" Type="http://schemas.openxmlformats.org/officeDocument/2006/relationships/slideLayout" Target="../slideLayouts/slideLayout2.xml"/><Relationship Id="rId9" Type="http://schemas.openxmlformats.org/officeDocument/2006/relationships/slideLayout" Target="../slideLayouts/slideLayout3.xml"/><Relationship Id="rId10" Type="http://schemas.openxmlformats.org/officeDocument/2006/relationships/slideLayout" Target="../slideLayouts/slideLayout4.xml"/><Relationship Id="rId11" Type="http://schemas.openxmlformats.org/officeDocument/2006/relationships/slideLayout" Target="../slideLayouts/slideLayout5.xml"/><Relationship Id="rId12" Type="http://schemas.openxmlformats.org/officeDocument/2006/relationships/slideLayout" Target="../slideLayouts/slideLayout6.xml"/><Relationship Id="rId13" Type="http://schemas.openxmlformats.org/officeDocument/2006/relationships/slideLayout" Target="../slideLayouts/slideLayout7.xml"/><Relationship Id="rId14" Type="http://schemas.openxmlformats.org/officeDocument/2006/relationships/slideLayout" Target="../slideLayouts/slideLayout8.xml"/><Relationship Id="rId15" Type="http://schemas.openxmlformats.org/officeDocument/2006/relationships/slideLayout" Target="../slideLayouts/slideLayout9.xml"/><Relationship Id="rId16" Type="http://schemas.openxmlformats.org/officeDocument/2006/relationships/slideLayout" Target="../slideLayouts/slideLayout10.xml"/><Relationship Id="rId17" Type="http://schemas.openxmlformats.org/officeDocument/2006/relationships/slideLayout" Target="../slideLayouts/slideLayout11.xml"/><Relationship Id="rId18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0.jpeg"/><Relationship Id="rId3" Type="http://schemas.openxmlformats.org/officeDocument/2006/relationships/image" Target="../media/image11.jpeg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2.jpeg"/><Relationship Id="rId3" Type="http://schemas.openxmlformats.org/officeDocument/2006/relationships/image" Target="../media/image13.jpeg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4.jpeg"/><Relationship Id="rId3" Type="http://schemas.openxmlformats.org/officeDocument/2006/relationships/image" Target="../media/image15.jpeg"/><Relationship Id="rId4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5.xml"/><Relationship Id="rId9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71.xml"/><Relationship Id="rId15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6.jpeg"/><Relationship Id="rId3" Type="http://schemas.openxmlformats.org/officeDocument/2006/relationships/image" Target="../media/image17.jpeg"/><Relationship Id="rId4" Type="http://schemas.openxmlformats.org/officeDocument/2006/relationships/slideLayout" Target="../slideLayouts/slideLayout73.xml"/><Relationship Id="rId5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7.xml"/><Relationship Id="rId9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81.xml"/><Relationship Id="rId13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83.xml"/><Relationship Id="rId15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8.jpeg"/><Relationship Id="rId3" Type="http://schemas.openxmlformats.org/officeDocument/2006/relationships/image" Target="../media/image19.jpeg"/><Relationship Id="rId4" Type="http://schemas.openxmlformats.org/officeDocument/2006/relationships/slideLayout" Target="../slideLayouts/slideLayout85.xml"/><Relationship Id="rId5" Type="http://schemas.openxmlformats.org/officeDocument/2006/relationships/slideLayout" Target="../slideLayouts/slideLayout86.xml"/><Relationship Id="rId6" Type="http://schemas.openxmlformats.org/officeDocument/2006/relationships/slideLayout" Target="../slideLayouts/slideLayout87.xml"/><Relationship Id="rId7" Type="http://schemas.openxmlformats.org/officeDocument/2006/relationships/slideLayout" Target="../slideLayouts/slideLayout88.xml"/><Relationship Id="rId8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92.xml"/><Relationship Id="rId12" Type="http://schemas.openxmlformats.org/officeDocument/2006/relationships/slideLayout" Target="../slideLayouts/slideLayout93.xml"/><Relationship Id="rId13" Type="http://schemas.openxmlformats.org/officeDocument/2006/relationships/slideLayout" Target="../slideLayouts/slideLayout94.xml"/><Relationship Id="rId14" Type="http://schemas.openxmlformats.org/officeDocument/2006/relationships/slideLayout" Target="../slideLayouts/slideLayout95.xml"/><Relationship Id="rId15" Type="http://schemas.openxmlformats.org/officeDocument/2006/relationships/slideLayout" Target="../slideLayouts/slideLayout96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20.jpeg"/><Relationship Id="rId3" Type="http://schemas.openxmlformats.org/officeDocument/2006/relationships/image" Target="../media/image21.jpeg"/><Relationship Id="rId4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8.xml"/><Relationship Id="rId6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0.xml"/><Relationship Id="rId8" Type="http://schemas.openxmlformats.org/officeDocument/2006/relationships/slideLayout" Target="../slideLayouts/slideLayout101.xml"/><Relationship Id="rId9" Type="http://schemas.openxmlformats.org/officeDocument/2006/relationships/slideLayout" Target="../slideLayouts/slideLayout102.xml"/><Relationship Id="rId10" Type="http://schemas.openxmlformats.org/officeDocument/2006/relationships/slideLayout" Target="../slideLayouts/slideLayout103.xml"/><Relationship Id="rId11" Type="http://schemas.openxmlformats.org/officeDocument/2006/relationships/slideLayout" Target="../slideLayouts/slideLayout104.xml"/><Relationship Id="rId12" Type="http://schemas.openxmlformats.org/officeDocument/2006/relationships/slideLayout" Target="../slideLayouts/slideLayout105.xml"/><Relationship Id="rId13" Type="http://schemas.openxmlformats.org/officeDocument/2006/relationships/slideLayout" Target="../slideLayouts/slideLayout106.xml"/><Relationship Id="rId14" Type="http://schemas.openxmlformats.org/officeDocument/2006/relationships/slideLayout" Target="../slideLayouts/slideLayout107.xml"/><Relationship Id="rId15" Type="http://schemas.openxmlformats.org/officeDocument/2006/relationships/slideLayout" Target="../slideLayouts/slideLayout10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19800" cy="585000"/>
          </a:xfrm>
          <a:prstGeom prst="rect">
            <a:avLst/>
          </a:prstGeom>
          <a:ln>
            <a:noFill/>
          </a:ln>
        </p:spPr>
      </p:pic>
      <p:pic>
        <p:nvPicPr>
          <p:cNvPr id="1" name="Picture 11" descr="A picture containing boat, sitting, water, large&#10;&#10;Description automatically generated"/>
          <p:cNvPicPr/>
          <p:nvPr/>
        </p:nvPicPr>
        <p:blipFill>
          <a:blip r:embed="rId3"/>
          <a:stretch/>
        </p:blipFill>
        <p:spPr>
          <a:xfrm>
            <a:off x="-24840" y="0"/>
            <a:ext cx="12214800" cy="6856200"/>
          </a:xfrm>
          <a:prstGeom prst="rect">
            <a:avLst/>
          </a:prstGeom>
          <a:ln>
            <a:noFill/>
          </a:ln>
        </p:spPr>
      </p:pic>
      <p:sp>
        <p:nvSpPr>
          <p:cNvPr id="2" name="CustomShape 1"/>
          <p:cNvSpPr/>
          <p:nvPr/>
        </p:nvSpPr>
        <p:spPr>
          <a:xfrm>
            <a:off x="952920" y="2551680"/>
            <a:ext cx="5060160" cy="1735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Arial"/>
                <a:ea typeface="DejaVu Sans"/>
              </a:rPr>
              <a:t>Interdisciplinary Centre for Security, Reliability and Trust</a:t>
            </a:r>
            <a:endParaRPr b="0" lang="en-US" sz="3600" spc="-1" strike="noStrike">
              <a:latin typeface="Arial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-24840" y="5825880"/>
            <a:ext cx="12214800" cy="1416600"/>
            <a:chOff x="-24840" y="5825880"/>
            <a:chExt cx="12214800" cy="1416600"/>
          </a:xfrm>
        </p:grpSpPr>
        <p:pic>
          <p:nvPicPr>
            <p:cNvPr id="4" name="Image 5" descr="Bande_Logo_UNI_PP_right_long.eps"/>
            <p:cNvPicPr/>
            <p:nvPr/>
          </p:nvPicPr>
          <p:blipFill>
            <a:blip r:embed="rId4"/>
            <a:srcRect l="42064" t="0" r="2500" b="52663"/>
            <a:stretch/>
          </p:blipFill>
          <p:spPr>
            <a:xfrm>
              <a:off x="-24840" y="5825880"/>
              <a:ext cx="12214800" cy="1053720"/>
            </a:xfrm>
            <a:prstGeom prst="rect">
              <a:avLst/>
            </a:prstGeom>
            <a:ln>
              <a:noFill/>
            </a:ln>
          </p:spPr>
        </p:pic>
        <p:sp>
          <p:nvSpPr>
            <p:cNvPr id="5" name="CustomShape 3"/>
            <p:cNvSpPr/>
            <p:nvPr/>
          </p:nvSpPr>
          <p:spPr>
            <a:xfrm>
              <a:off x="10500840" y="5987520"/>
              <a:ext cx="959040" cy="892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pic>
          <p:nvPicPr>
            <p:cNvPr id="6" name="Picture 10" descr=""/>
            <p:cNvPicPr/>
            <p:nvPr/>
          </p:nvPicPr>
          <p:blipFill>
            <a:blip r:embed="rId5"/>
            <a:srcRect l="0" t="22054" r="0" b="0"/>
            <a:stretch/>
          </p:blipFill>
          <p:spPr>
            <a:xfrm>
              <a:off x="10151640" y="5987520"/>
              <a:ext cx="1610640" cy="1254960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7" name="Graphic 12" descr=""/>
          <p:cNvPicPr/>
          <p:nvPr/>
        </p:nvPicPr>
        <p:blipFill>
          <a:blip r:embed="rId6"/>
          <a:stretch/>
        </p:blipFill>
        <p:spPr>
          <a:xfrm>
            <a:off x="1070280" y="1386000"/>
            <a:ext cx="1254600" cy="986040"/>
          </a:xfrm>
          <a:prstGeom prst="rect">
            <a:avLst/>
          </a:prstGeom>
          <a:ln>
            <a:noFill/>
          </a:ln>
        </p:spPr>
      </p:pic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</a:t>
            </a:r>
            <a:r>
              <a:rPr b="0" lang="en-US" sz="4400" spc="-1" strike="noStrike">
                <a:latin typeface="Arial"/>
              </a:rPr>
              <a:t>edit the </a:t>
            </a:r>
            <a:r>
              <a:rPr b="0" lang="en-US" sz="4400" spc="-1" strike="noStrike">
                <a:latin typeface="Arial"/>
              </a:rPr>
              <a:t>title 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7"/>
    <p:sldLayoutId id="2147483650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  <p:sldLayoutId id="2147483660" r:id="rId18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20520" cy="585720"/>
          </a:xfrm>
          <a:prstGeom prst="rect">
            <a:avLst/>
          </a:prstGeom>
          <a:ln>
            <a:noFill/>
          </a:ln>
        </p:spPr>
      </p:pic>
      <p:pic>
        <p:nvPicPr>
          <p:cNvPr id="47" name="Picture 12" descr=""/>
          <p:cNvPicPr/>
          <p:nvPr/>
        </p:nvPicPr>
        <p:blipFill>
          <a:blip r:embed="rId3"/>
          <a:stretch/>
        </p:blipFill>
        <p:spPr>
          <a:xfrm flipH="1">
            <a:off x="1080" y="2336040"/>
            <a:ext cx="5480280" cy="4520880"/>
          </a:xfrm>
          <a:prstGeom prst="rect">
            <a:avLst/>
          </a:prstGeom>
          <a:ln>
            <a:noFill/>
          </a:ln>
        </p:spPr>
      </p:pic>
      <p:sp>
        <p:nvSpPr>
          <p:cNvPr id="48" name="CustomShape 1"/>
          <p:cNvSpPr/>
          <p:nvPr/>
        </p:nvSpPr>
        <p:spPr>
          <a:xfrm>
            <a:off x="123120" y="150840"/>
            <a:ext cx="37116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fld id="{AFE2C200-030F-4BFE-BABB-A5B718E3623C}" type="slidenum">
              <a:rPr b="0" lang="en-US" sz="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US" sz="800" spc="-1" strike="noStrike">
              <a:latin typeface="Arial"/>
            </a:endParaRPr>
          </a:p>
        </p:txBody>
      </p:sp>
      <p:sp>
        <p:nvSpPr>
          <p:cNvPr id="49" name="Line 2"/>
          <p:cNvSpPr/>
          <p:nvPr/>
        </p:nvSpPr>
        <p:spPr>
          <a:xfrm flipH="1">
            <a:off x="0" y="131760"/>
            <a:ext cx="4381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" name="Line 3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</a:t>
            </a:r>
            <a:r>
              <a:rPr b="0" lang="en-US" sz="4400" spc="-1" strike="noStrike">
                <a:latin typeface="Arial"/>
              </a:rPr>
              <a:t>edit the </a:t>
            </a:r>
            <a:r>
              <a:rPr b="0" lang="en-US" sz="4400" spc="-1" strike="noStrike">
                <a:latin typeface="Arial"/>
              </a:rPr>
              <a:t>title 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19800" cy="585000"/>
          </a:xfrm>
          <a:prstGeom prst="rect">
            <a:avLst/>
          </a:prstGeom>
          <a:ln>
            <a:noFill/>
          </a:ln>
        </p:spPr>
      </p:pic>
      <p:pic>
        <p:nvPicPr>
          <p:cNvPr id="90" name="Picture 6" descr=""/>
          <p:cNvPicPr/>
          <p:nvPr/>
        </p:nvPicPr>
        <p:blipFill>
          <a:blip r:embed="rId3"/>
          <a:stretch/>
        </p:blipFill>
        <p:spPr>
          <a:xfrm flipH="1">
            <a:off x="1800" y="2336040"/>
            <a:ext cx="5479560" cy="4520160"/>
          </a:xfrm>
          <a:prstGeom prst="rect">
            <a:avLst/>
          </a:prstGeom>
          <a:ln>
            <a:noFill/>
          </a:ln>
        </p:spPr>
      </p:pic>
      <p:sp>
        <p:nvSpPr>
          <p:cNvPr id="91" name="Line 1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" name="CustomShape 2"/>
          <p:cNvSpPr/>
          <p:nvPr/>
        </p:nvSpPr>
        <p:spPr>
          <a:xfrm>
            <a:off x="123120" y="150840"/>
            <a:ext cx="37044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fld id="{D569809A-1A9E-45B4-BF46-DE3E79D94718}" type="slidenum">
              <a:rPr b="0" lang="en-US" sz="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US" sz="800" spc="-1" strike="noStrike">
              <a:latin typeface="Arial"/>
            </a:endParaRPr>
          </a:p>
        </p:txBody>
      </p:sp>
      <p:sp>
        <p:nvSpPr>
          <p:cNvPr id="93" name="Line 3"/>
          <p:cNvSpPr/>
          <p:nvPr/>
        </p:nvSpPr>
        <p:spPr>
          <a:xfrm flipH="1">
            <a:off x="0" y="131760"/>
            <a:ext cx="4381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</a:t>
            </a:r>
            <a:r>
              <a:rPr b="0" lang="en-US" sz="4400" spc="-1" strike="noStrike">
                <a:latin typeface="Arial"/>
              </a:rPr>
              <a:t>edit the </a:t>
            </a:r>
            <a:r>
              <a:rPr b="0" lang="en-US" sz="4400" spc="-1" strike="noStrike">
                <a:latin typeface="Arial"/>
              </a:rPr>
              <a:t>title 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19800" cy="585000"/>
          </a:xfrm>
          <a:prstGeom prst="rect">
            <a:avLst/>
          </a:prstGeom>
          <a:ln>
            <a:noFill/>
          </a:ln>
        </p:spPr>
      </p:pic>
      <p:pic>
        <p:nvPicPr>
          <p:cNvPr id="133" name="Picture 6" descr=""/>
          <p:cNvPicPr/>
          <p:nvPr/>
        </p:nvPicPr>
        <p:blipFill>
          <a:blip r:embed="rId3"/>
          <a:stretch/>
        </p:blipFill>
        <p:spPr>
          <a:xfrm flipH="1">
            <a:off x="1800" y="2336040"/>
            <a:ext cx="5479560" cy="4520160"/>
          </a:xfrm>
          <a:prstGeom prst="rect">
            <a:avLst/>
          </a:prstGeom>
          <a:ln>
            <a:noFill/>
          </a:ln>
        </p:spPr>
      </p:pic>
      <p:sp>
        <p:nvSpPr>
          <p:cNvPr id="134" name="Line 1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5" name="CustomShape 2"/>
          <p:cNvSpPr/>
          <p:nvPr/>
        </p:nvSpPr>
        <p:spPr>
          <a:xfrm>
            <a:off x="123120" y="150840"/>
            <a:ext cx="37044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fld id="{88D3FDEF-B823-4ED6-9E9D-5796E2CE2761}" type="slidenum">
              <a:rPr b="0" lang="en-US" sz="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US" sz="800" spc="-1" strike="noStrike">
              <a:latin typeface="Arial"/>
            </a:endParaRPr>
          </a:p>
        </p:txBody>
      </p:sp>
      <p:sp>
        <p:nvSpPr>
          <p:cNvPr id="136" name="Line 3"/>
          <p:cNvSpPr/>
          <p:nvPr/>
        </p:nvSpPr>
        <p:spPr>
          <a:xfrm flipH="1">
            <a:off x="0" y="131760"/>
            <a:ext cx="4381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</a:t>
            </a:r>
            <a:r>
              <a:rPr b="0" lang="en-US" sz="4400" spc="-1" strike="noStrike">
                <a:latin typeface="Arial"/>
              </a:rPr>
              <a:t>edit the </a:t>
            </a:r>
            <a:r>
              <a:rPr b="0" lang="en-US" sz="4400" spc="-1" strike="noStrike">
                <a:latin typeface="Arial"/>
              </a:rPr>
              <a:t>title 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19800" cy="585000"/>
          </a:xfrm>
          <a:prstGeom prst="rect">
            <a:avLst/>
          </a:prstGeom>
          <a:ln>
            <a:noFill/>
          </a:ln>
        </p:spPr>
      </p:pic>
      <p:pic>
        <p:nvPicPr>
          <p:cNvPr id="176" name="Picture 6" descr=""/>
          <p:cNvPicPr/>
          <p:nvPr/>
        </p:nvPicPr>
        <p:blipFill>
          <a:blip r:embed="rId3"/>
          <a:stretch/>
        </p:blipFill>
        <p:spPr>
          <a:xfrm flipH="1">
            <a:off x="1800" y="2336040"/>
            <a:ext cx="5479560" cy="4520160"/>
          </a:xfrm>
          <a:prstGeom prst="rect">
            <a:avLst/>
          </a:prstGeom>
          <a:ln>
            <a:noFill/>
          </a:ln>
        </p:spPr>
      </p:pic>
      <p:sp>
        <p:nvSpPr>
          <p:cNvPr id="177" name="Line 1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8" name="CustomShape 2"/>
          <p:cNvSpPr/>
          <p:nvPr/>
        </p:nvSpPr>
        <p:spPr>
          <a:xfrm>
            <a:off x="123120" y="150840"/>
            <a:ext cx="37044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fld id="{C6A2A4A9-B265-484E-A363-C976BF79445F}" type="slidenum">
              <a:rPr b="0" lang="en-US" sz="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US" sz="800" spc="-1" strike="noStrike">
              <a:latin typeface="Arial"/>
            </a:endParaRPr>
          </a:p>
        </p:txBody>
      </p:sp>
      <p:sp>
        <p:nvSpPr>
          <p:cNvPr id="179" name="Line 3"/>
          <p:cNvSpPr/>
          <p:nvPr/>
        </p:nvSpPr>
        <p:spPr>
          <a:xfrm flipH="1">
            <a:off x="0" y="131760"/>
            <a:ext cx="4381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</a:t>
            </a:r>
            <a:r>
              <a:rPr b="0" lang="en-US" sz="4400" spc="-1" strike="noStrike">
                <a:latin typeface="Arial"/>
              </a:rPr>
              <a:t>edit the </a:t>
            </a:r>
            <a:r>
              <a:rPr b="0" lang="en-US" sz="4400" spc="-1" strike="noStrike">
                <a:latin typeface="Arial"/>
              </a:rPr>
              <a:t>title 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8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19800" cy="585000"/>
          </a:xfrm>
          <a:prstGeom prst="rect">
            <a:avLst/>
          </a:prstGeom>
          <a:ln>
            <a:noFill/>
          </a:ln>
        </p:spPr>
      </p:pic>
      <p:pic>
        <p:nvPicPr>
          <p:cNvPr id="219" name="Picture 12" descr=""/>
          <p:cNvPicPr/>
          <p:nvPr/>
        </p:nvPicPr>
        <p:blipFill>
          <a:blip r:embed="rId3"/>
          <a:stretch/>
        </p:blipFill>
        <p:spPr>
          <a:xfrm flipH="1">
            <a:off x="1800" y="2336040"/>
            <a:ext cx="5479560" cy="4520160"/>
          </a:xfrm>
          <a:prstGeom prst="rect">
            <a:avLst/>
          </a:prstGeom>
          <a:ln>
            <a:noFill/>
          </a:ln>
        </p:spPr>
      </p:pic>
      <p:sp>
        <p:nvSpPr>
          <p:cNvPr id="220" name="CustomShape 1"/>
          <p:cNvSpPr/>
          <p:nvPr/>
        </p:nvSpPr>
        <p:spPr>
          <a:xfrm>
            <a:off x="123120" y="150840"/>
            <a:ext cx="37044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fld id="{CB065A3F-160A-4F55-AB12-606C680713D8}" type="slidenum">
              <a:rPr b="0" lang="en-US" sz="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US" sz="800" spc="-1" strike="noStrike">
              <a:latin typeface="Arial"/>
            </a:endParaRPr>
          </a:p>
        </p:txBody>
      </p:sp>
      <p:sp>
        <p:nvSpPr>
          <p:cNvPr id="221" name="Line 2"/>
          <p:cNvSpPr/>
          <p:nvPr/>
        </p:nvSpPr>
        <p:spPr>
          <a:xfrm flipH="1">
            <a:off x="0" y="131760"/>
            <a:ext cx="4381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2" name="Line 3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</a:t>
            </a:r>
            <a:r>
              <a:rPr b="0" lang="en-US" sz="4400" spc="-1" strike="noStrike">
                <a:latin typeface="Arial"/>
              </a:rPr>
              <a:t>edit the </a:t>
            </a:r>
            <a:r>
              <a:rPr b="0" lang="en-US" sz="4400" spc="-1" strike="noStrike">
                <a:latin typeface="Arial"/>
              </a:rPr>
              <a:t>title 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2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19800" cy="585000"/>
          </a:xfrm>
          <a:prstGeom prst="rect">
            <a:avLst/>
          </a:prstGeom>
          <a:ln>
            <a:noFill/>
          </a:ln>
        </p:spPr>
      </p:pic>
      <p:pic>
        <p:nvPicPr>
          <p:cNvPr id="262" name="Picture 12" descr=""/>
          <p:cNvPicPr/>
          <p:nvPr/>
        </p:nvPicPr>
        <p:blipFill>
          <a:blip r:embed="rId3"/>
          <a:stretch/>
        </p:blipFill>
        <p:spPr>
          <a:xfrm flipH="1">
            <a:off x="1800" y="2336040"/>
            <a:ext cx="5479560" cy="4520160"/>
          </a:xfrm>
          <a:prstGeom prst="rect">
            <a:avLst/>
          </a:prstGeom>
          <a:ln>
            <a:noFill/>
          </a:ln>
        </p:spPr>
      </p:pic>
      <p:sp>
        <p:nvSpPr>
          <p:cNvPr id="263" name="CustomShape 1"/>
          <p:cNvSpPr/>
          <p:nvPr/>
        </p:nvSpPr>
        <p:spPr>
          <a:xfrm>
            <a:off x="123120" y="150840"/>
            <a:ext cx="37044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fld id="{2B638C6C-89D0-425C-87C3-974089DCAEDA}" type="slidenum">
              <a:rPr b="0" lang="en-US" sz="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US" sz="800" spc="-1" strike="noStrike">
              <a:latin typeface="Arial"/>
            </a:endParaRPr>
          </a:p>
        </p:txBody>
      </p:sp>
      <p:sp>
        <p:nvSpPr>
          <p:cNvPr id="264" name="Line 2"/>
          <p:cNvSpPr/>
          <p:nvPr/>
        </p:nvSpPr>
        <p:spPr>
          <a:xfrm flipH="1">
            <a:off x="0" y="131760"/>
            <a:ext cx="4381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5" name="Line 3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</a:t>
            </a:r>
            <a:r>
              <a:rPr b="0" lang="en-US" sz="4400" spc="-1" strike="noStrike">
                <a:latin typeface="Arial"/>
              </a:rPr>
              <a:t>edit the </a:t>
            </a:r>
            <a:r>
              <a:rPr b="0" lang="en-US" sz="4400" spc="-1" strike="noStrike">
                <a:latin typeface="Arial"/>
              </a:rPr>
              <a:t>title 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6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19800" cy="585000"/>
          </a:xfrm>
          <a:prstGeom prst="rect">
            <a:avLst/>
          </a:prstGeom>
          <a:ln>
            <a:noFill/>
          </a:ln>
        </p:spPr>
      </p:pic>
      <p:pic>
        <p:nvPicPr>
          <p:cNvPr id="305" name="Picture 6" descr=""/>
          <p:cNvPicPr/>
          <p:nvPr/>
        </p:nvPicPr>
        <p:blipFill>
          <a:blip r:embed="rId3"/>
          <a:stretch/>
        </p:blipFill>
        <p:spPr>
          <a:xfrm flipH="1">
            <a:off x="1800" y="2336040"/>
            <a:ext cx="5479560" cy="4520160"/>
          </a:xfrm>
          <a:prstGeom prst="rect">
            <a:avLst/>
          </a:prstGeom>
          <a:ln>
            <a:noFill/>
          </a:ln>
        </p:spPr>
      </p:pic>
      <p:sp>
        <p:nvSpPr>
          <p:cNvPr id="306" name="Line 1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7" name="CustomShape 2"/>
          <p:cNvSpPr/>
          <p:nvPr/>
        </p:nvSpPr>
        <p:spPr>
          <a:xfrm>
            <a:off x="123120" y="150840"/>
            <a:ext cx="37044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fld id="{FC448CA7-3B21-4B42-9F99-57D7A30567AA}" type="slidenum">
              <a:rPr b="0" lang="en-US" sz="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US" sz="800" spc="-1" strike="noStrike">
              <a:latin typeface="Arial"/>
            </a:endParaRPr>
          </a:p>
        </p:txBody>
      </p:sp>
      <p:sp>
        <p:nvSpPr>
          <p:cNvPr id="308" name="Line 3"/>
          <p:cNvSpPr/>
          <p:nvPr/>
        </p:nvSpPr>
        <p:spPr>
          <a:xfrm flipH="1">
            <a:off x="0" y="131760"/>
            <a:ext cx="4381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</a:t>
            </a:r>
            <a:r>
              <a:rPr b="0" lang="en-US" sz="4400" spc="-1" strike="noStrike">
                <a:latin typeface="Arial"/>
              </a:rPr>
              <a:t>edit the </a:t>
            </a:r>
            <a:r>
              <a:rPr b="0" lang="en-US" sz="4400" spc="-1" strike="noStrike">
                <a:latin typeface="Arial"/>
              </a:rPr>
              <a:t>title 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1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19800" cy="585000"/>
          </a:xfrm>
          <a:prstGeom prst="rect">
            <a:avLst/>
          </a:prstGeom>
          <a:ln>
            <a:noFill/>
          </a:ln>
        </p:spPr>
      </p:pic>
      <p:pic>
        <p:nvPicPr>
          <p:cNvPr id="348" name="Picture 12" descr=""/>
          <p:cNvPicPr/>
          <p:nvPr/>
        </p:nvPicPr>
        <p:blipFill>
          <a:blip r:embed="rId3"/>
          <a:stretch/>
        </p:blipFill>
        <p:spPr>
          <a:xfrm flipH="1">
            <a:off x="1800" y="2336040"/>
            <a:ext cx="5479560" cy="4520160"/>
          </a:xfrm>
          <a:prstGeom prst="rect">
            <a:avLst/>
          </a:prstGeom>
          <a:ln>
            <a:noFill/>
          </a:ln>
        </p:spPr>
      </p:pic>
      <p:sp>
        <p:nvSpPr>
          <p:cNvPr id="349" name="CustomShape 1"/>
          <p:cNvSpPr/>
          <p:nvPr/>
        </p:nvSpPr>
        <p:spPr>
          <a:xfrm>
            <a:off x="123120" y="150840"/>
            <a:ext cx="37044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fld id="{0810A495-44F7-4ECD-97E1-850DFE2A03E8}" type="slidenum">
              <a:rPr b="0" lang="en-US" sz="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US" sz="800" spc="-1" strike="noStrike">
              <a:latin typeface="Arial"/>
            </a:endParaRPr>
          </a:p>
        </p:txBody>
      </p:sp>
      <p:sp>
        <p:nvSpPr>
          <p:cNvPr id="350" name="Line 2"/>
          <p:cNvSpPr/>
          <p:nvPr/>
        </p:nvSpPr>
        <p:spPr>
          <a:xfrm flipH="1">
            <a:off x="0" y="131760"/>
            <a:ext cx="4381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51" name="Line 3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5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</a:t>
            </a:r>
            <a:r>
              <a:rPr b="0" lang="en-US" sz="4400" spc="-1" strike="noStrike">
                <a:latin typeface="Arial"/>
              </a:rPr>
              <a:t>edit the </a:t>
            </a:r>
            <a:r>
              <a:rPr b="0" lang="en-US" sz="4400" spc="-1" strike="noStrike">
                <a:latin typeface="Arial"/>
              </a:rPr>
              <a:t>title 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5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jpeg"/><Relationship Id="rId3" Type="http://schemas.openxmlformats.org/officeDocument/2006/relationships/image" Target="../media/image24.jpeg"/><Relationship Id="rId4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5.jpe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3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9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CustomShape 1"/>
          <p:cNvSpPr/>
          <p:nvPr/>
        </p:nvSpPr>
        <p:spPr>
          <a:xfrm>
            <a:off x="1828800" y="4937760"/>
            <a:ext cx="9509400" cy="54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GB" sz="3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Soil Moisture Estimation using Software Defined Radar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CustomShape 1"/>
          <p:cNvSpPr/>
          <p:nvPr/>
        </p:nvSpPr>
        <p:spPr>
          <a:xfrm>
            <a:off x="543600" y="151200"/>
            <a:ext cx="4872600" cy="230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Soil moisture estimation using software </a:t>
            </a: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defined radar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392" name="CustomShape 2"/>
          <p:cNvSpPr/>
          <p:nvPr/>
        </p:nvSpPr>
        <p:spPr>
          <a:xfrm>
            <a:off x="544680" y="715680"/>
            <a:ext cx="1136160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GB" sz="2400" spc="-1" strike="noStrike">
                <a:solidFill>
                  <a:srgbClr val="000000"/>
                </a:solidFill>
                <a:latin typeface="Arial"/>
                <a:ea typeface="DejaVu Sans"/>
              </a:rPr>
              <a:t>Importance of soil </a:t>
            </a:r>
            <a:r>
              <a:rPr b="1" lang="en-GB" sz="2400" spc="-1" strike="noStrike">
                <a:solidFill>
                  <a:srgbClr val="000000"/>
                </a:solidFill>
                <a:latin typeface="Arial"/>
                <a:ea typeface="DejaVu Sans"/>
              </a:rPr>
              <a:t>moisture </a:t>
            </a:r>
            <a:r>
              <a:rPr b="1" lang="en-GB" sz="2400" spc="-1" strike="noStrike">
                <a:solidFill>
                  <a:srgbClr val="000000"/>
                </a:solidFill>
                <a:latin typeface="Arial"/>
                <a:ea typeface="DejaVu Sans"/>
              </a:rPr>
              <a:t>measurements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93" name="CustomShape 3"/>
          <p:cNvSpPr/>
          <p:nvPr/>
        </p:nvSpPr>
        <p:spPr>
          <a:xfrm>
            <a:off x="543600" y="1205280"/>
            <a:ext cx="11069280" cy="1188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5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c9211e"/>
                </a:solidFill>
                <a:latin typeface="Arial"/>
                <a:ea typeface="DejaVu Sans"/>
              </a:rPr>
              <a:t>69%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 of the global fresh water supply is used for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agriculture  </a:t>
            </a:r>
            <a:endParaRPr b="0" lang="en-US" sz="1600" spc="-1" strike="noStrike">
              <a:latin typeface="Arial"/>
            </a:endParaRPr>
          </a:p>
          <a:p>
            <a:pPr marL="228600" indent="-2275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More than </a:t>
            </a:r>
            <a:r>
              <a:rPr b="0" lang="en-US" sz="1600" spc="-1" strike="noStrike">
                <a:solidFill>
                  <a:srgbClr val="c9211e"/>
                </a:solidFill>
                <a:latin typeface="Arial"/>
                <a:ea typeface="DejaVu Sans"/>
              </a:rPr>
              <a:t>15%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 of water is wasted due to over watering</a:t>
            </a:r>
            <a:endParaRPr b="0" lang="en-US" sz="1600" spc="-1" strike="noStrike">
              <a:latin typeface="Arial"/>
            </a:endParaRPr>
          </a:p>
          <a:p>
            <a:pPr marL="228600" indent="-2275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Accurate, real time soil moisture monitoring leads to a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water </a:t>
            </a:r>
            <a:endParaRPr b="0" lang="en-US" sz="1600" spc="-1" strike="noStrike">
              <a:latin typeface="Arial"/>
            </a:endParaRPr>
          </a:p>
          <a:p>
            <a:pPr marL="228600" indent="-2275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saving of around </a:t>
            </a:r>
            <a:r>
              <a:rPr b="0" lang="en-US" sz="1600" spc="-1" strike="noStrike">
                <a:solidFill>
                  <a:srgbClr val="00a933"/>
                </a:solidFill>
                <a:latin typeface="Arial"/>
                <a:ea typeface="DejaVu Sans"/>
              </a:rPr>
              <a:t>50%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94" name="CustomShape 4"/>
          <p:cNvSpPr/>
          <p:nvPr/>
        </p:nvSpPr>
        <p:spPr>
          <a:xfrm>
            <a:off x="525600" y="2574000"/>
            <a:ext cx="1136160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GB" sz="2400" spc="-1" strike="noStrike">
                <a:solidFill>
                  <a:srgbClr val="000000"/>
                </a:solidFill>
                <a:latin typeface="Arial"/>
                <a:ea typeface="DejaVu Sans"/>
              </a:rPr>
              <a:t>Soil sensors on </a:t>
            </a:r>
            <a:r>
              <a:rPr b="1" lang="en-GB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 market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95" name="CustomShape 5"/>
          <p:cNvSpPr/>
          <p:nvPr/>
        </p:nvSpPr>
        <p:spPr>
          <a:xfrm>
            <a:off x="548640" y="4973760"/>
            <a:ext cx="11069280" cy="1188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5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c9211e"/>
                </a:solidFill>
                <a:latin typeface="Arial"/>
                <a:ea typeface="DejaVu Sans"/>
              </a:rPr>
              <a:t>Costs: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hundreds of dollars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per sensor kit, each farm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needs to deploy hundreds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of them</a:t>
            </a:r>
            <a:endParaRPr b="0" lang="en-US" sz="1600" spc="-1" strike="noStrike">
              <a:latin typeface="Arial"/>
            </a:endParaRPr>
          </a:p>
          <a:p>
            <a:pPr marL="228600" indent="-2275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c9211e"/>
                </a:solidFill>
                <a:latin typeface="Arial"/>
                <a:ea typeface="DejaVu Sans"/>
              </a:rPr>
              <a:t>Maintenance: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need to bury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soil sensors under ground,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re-installation required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every tilling</a:t>
            </a:r>
            <a:endParaRPr b="0" lang="en-US" sz="1600" spc="-1" strike="noStrike">
              <a:latin typeface="Arial"/>
            </a:endParaRPr>
          </a:p>
          <a:p>
            <a:pPr marL="228600" indent="-2275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c9211e"/>
                </a:solidFill>
                <a:latin typeface="Arial"/>
                <a:ea typeface="DejaVu Sans"/>
              </a:rPr>
              <a:t>Contamination: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batteries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and decomposed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electronic components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have the risk to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contaminate soil</a:t>
            </a:r>
            <a:r>
              <a:rPr b="0" lang="en-US" sz="1600" spc="-1" strike="noStrike">
                <a:solidFill>
                  <a:srgbClr val="c9211e"/>
                </a:solidFill>
                <a:latin typeface="Arial"/>
                <a:ea typeface="DejaVu Sans"/>
              </a:rPr>
              <a:t>  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96" name="CustomShape 6"/>
          <p:cNvSpPr/>
          <p:nvPr/>
        </p:nvSpPr>
        <p:spPr>
          <a:xfrm>
            <a:off x="490320" y="4428000"/>
            <a:ext cx="1136160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GB" sz="2400" spc="-1" strike="noStrike">
                <a:solidFill>
                  <a:srgbClr val="000000"/>
                </a:solidFill>
                <a:latin typeface="Arial"/>
                <a:ea typeface="DejaVu Sans"/>
              </a:rPr>
              <a:t>Reason of low deployments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  <p:sp>
        <p:nvSpPr>
          <p:cNvPr id="397" name="CustomShape 7"/>
          <p:cNvSpPr/>
          <p:nvPr/>
        </p:nvSpPr>
        <p:spPr>
          <a:xfrm>
            <a:off x="543600" y="3017880"/>
            <a:ext cx="11069280" cy="1188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5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latin typeface="Arial"/>
                <a:ea typeface="DejaVu Sans"/>
              </a:rPr>
              <a:t>Electricity resistance sensors</a:t>
            </a:r>
            <a:endParaRPr b="0" lang="en-US" sz="1600" spc="-1" strike="noStrike">
              <a:latin typeface="Arial"/>
            </a:endParaRPr>
          </a:p>
          <a:p>
            <a:pPr marL="228600" indent="-2275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latin typeface="Arial"/>
                <a:ea typeface="DejaVu Sans"/>
              </a:rPr>
              <a:t>Tensiometers</a:t>
            </a:r>
            <a:endParaRPr b="0" lang="en-US" sz="1600" spc="-1" strike="noStrike">
              <a:latin typeface="Arial"/>
            </a:endParaRPr>
          </a:p>
          <a:p>
            <a:pPr marL="228600" indent="-2275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latin typeface="Arial"/>
                <a:ea typeface="DejaVu Sans"/>
              </a:rPr>
              <a:t>Radioactive sensors</a:t>
            </a:r>
            <a:endParaRPr b="0" lang="en-US" sz="1600" spc="-1" strike="noStrike">
              <a:latin typeface="Arial"/>
            </a:endParaRPr>
          </a:p>
          <a:p>
            <a:pPr marL="228600" indent="-2275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Less than </a:t>
            </a:r>
            <a:r>
              <a:rPr b="0" lang="en-US" sz="1600" spc="-1" strike="noStrike">
                <a:solidFill>
                  <a:srgbClr val="c9211e"/>
                </a:solidFill>
                <a:latin typeface="Arial"/>
                <a:ea typeface="DejaVu Sans"/>
              </a:rPr>
              <a:t>10%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 of irrigated field in the US deploy moisture sensors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398" name="" descr=""/>
          <p:cNvPicPr/>
          <p:nvPr/>
        </p:nvPicPr>
        <p:blipFill>
          <a:blip r:embed="rId1"/>
          <a:stretch/>
        </p:blipFill>
        <p:spPr>
          <a:xfrm>
            <a:off x="6309360" y="1280160"/>
            <a:ext cx="3628080" cy="2031480"/>
          </a:xfrm>
          <a:prstGeom prst="rect">
            <a:avLst/>
          </a:prstGeom>
          <a:ln>
            <a:noFill/>
          </a:ln>
        </p:spPr>
      </p:pic>
      <p:pic>
        <p:nvPicPr>
          <p:cNvPr id="399" name="" descr=""/>
          <p:cNvPicPr/>
          <p:nvPr/>
        </p:nvPicPr>
        <p:blipFill>
          <a:blip r:embed="rId2"/>
          <a:stretch/>
        </p:blipFill>
        <p:spPr>
          <a:xfrm>
            <a:off x="9865440" y="1450800"/>
            <a:ext cx="1979280" cy="1749600"/>
          </a:xfrm>
          <a:prstGeom prst="rect">
            <a:avLst/>
          </a:prstGeom>
          <a:ln>
            <a:noFill/>
          </a:ln>
        </p:spPr>
      </p:pic>
      <p:pic>
        <p:nvPicPr>
          <p:cNvPr id="400" name="" descr=""/>
          <p:cNvPicPr/>
          <p:nvPr/>
        </p:nvPicPr>
        <p:blipFill>
          <a:blip r:embed="rId3"/>
          <a:stretch/>
        </p:blipFill>
        <p:spPr>
          <a:xfrm>
            <a:off x="7955280" y="3311640"/>
            <a:ext cx="3017520" cy="16192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CustomShape 1"/>
          <p:cNvSpPr/>
          <p:nvPr/>
        </p:nvSpPr>
        <p:spPr>
          <a:xfrm>
            <a:off x="543600" y="151200"/>
            <a:ext cx="4872600" cy="230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Soil moisture estimation using software defined radar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402" name="CustomShape 2"/>
          <p:cNvSpPr/>
          <p:nvPr/>
        </p:nvSpPr>
        <p:spPr>
          <a:xfrm>
            <a:off x="544680" y="715680"/>
            <a:ext cx="1136160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GB" sz="2400" spc="-1" strike="noStrike">
                <a:solidFill>
                  <a:srgbClr val="000000"/>
                </a:solidFill>
                <a:latin typeface="Arial"/>
                <a:ea typeface="DejaVu Sans"/>
              </a:rPr>
              <a:t>Our solution – radio frequency signals (radar)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03" name="CustomShape 3"/>
          <p:cNvSpPr/>
          <p:nvPr/>
        </p:nvSpPr>
        <p:spPr>
          <a:xfrm>
            <a:off x="548640" y="2485440"/>
            <a:ext cx="6863040" cy="2909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5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a933"/>
                </a:solidFill>
                <a:latin typeface="Arial"/>
                <a:ea typeface="DejaVu Sans"/>
              </a:rPr>
              <a:t>Environmental friendly:</a:t>
            </a:r>
            <a:r>
              <a:rPr b="0" lang="en-US" sz="1600" spc="-1" strike="noStrike">
                <a:latin typeface="Arial"/>
                <a:ea typeface="DejaVu Sans"/>
              </a:rPr>
              <a:t> contact-less, no need to bury hazardous materials</a:t>
            </a:r>
            <a:endParaRPr b="0" lang="en-US" sz="1600" spc="-1" strike="noStrike">
              <a:latin typeface="Arial"/>
            </a:endParaRPr>
          </a:p>
          <a:p>
            <a:pPr marL="228600" indent="-2275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a933"/>
                </a:solidFill>
                <a:latin typeface="Arial"/>
                <a:ea typeface="DejaVu Sans"/>
              </a:rPr>
              <a:t>Low cost:</a:t>
            </a:r>
            <a:r>
              <a:rPr b="0" lang="en-US" sz="1600" spc="-1" strike="noStrike">
                <a:latin typeface="Arial"/>
                <a:ea typeface="DejaVu Sans"/>
              </a:rPr>
              <a:t> one radar can scan a large area when mounted on a robot</a:t>
            </a:r>
            <a:endParaRPr b="0" lang="en-US" sz="1600" spc="-1" strike="noStrike">
              <a:latin typeface="Arial"/>
            </a:endParaRPr>
          </a:p>
          <a:p>
            <a:pPr marL="228600" indent="-2275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a933"/>
                </a:solidFill>
                <a:latin typeface="Arial"/>
                <a:ea typeface="DejaVu Sans"/>
              </a:rPr>
              <a:t>Multiple depth:</a:t>
            </a:r>
            <a:r>
              <a:rPr b="0" lang="en-US" sz="1600" spc="-1" strike="noStrike">
                <a:latin typeface="Arial"/>
                <a:ea typeface="DejaVu Sans"/>
              </a:rPr>
              <a:t> the radar can measure soil moisture at multiple depths underneath the surface</a:t>
            </a:r>
            <a:endParaRPr b="0" lang="en-US" sz="1600" spc="-1" strike="noStrike">
              <a:latin typeface="Arial"/>
            </a:endParaRPr>
          </a:p>
          <a:p>
            <a:pPr marL="228600" indent="-2275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a933"/>
                </a:solidFill>
                <a:latin typeface="Arial"/>
                <a:ea typeface="DejaVu Sans"/>
              </a:rPr>
              <a:t>Easy maintenance:</a:t>
            </a:r>
            <a:r>
              <a:rPr b="0" lang="en-US" sz="1600" spc="-1" strike="noStrike">
                <a:latin typeface="Arial"/>
                <a:ea typeface="DejaVu Sans"/>
              </a:rPr>
              <a:t> greatly reduces the labor required for sensor network maintenance</a:t>
            </a:r>
            <a:endParaRPr b="0" lang="en-US" sz="1600" spc="-1" strike="noStrike">
              <a:latin typeface="Arial"/>
            </a:endParaRPr>
          </a:p>
          <a:p>
            <a:pPr marL="228600" indent="-2275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a933"/>
                </a:solidFill>
                <a:latin typeface="Arial"/>
                <a:ea typeface="DejaVu Sans"/>
              </a:rPr>
              <a:t>Beyond soil moisture:</a:t>
            </a:r>
            <a:r>
              <a:rPr b="0" lang="en-US" sz="1600" spc="-1" strike="noStrike">
                <a:latin typeface="Arial"/>
                <a:ea typeface="DejaVu Sans"/>
              </a:rPr>
              <a:t> root monitoring, soil compactness etc.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404" name="" descr=""/>
          <p:cNvPicPr/>
          <p:nvPr/>
        </p:nvPicPr>
        <p:blipFill>
          <a:blip r:embed="rId1"/>
          <a:srcRect l="26222" t="1888" r="37776" b="5288"/>
          <a:stretch/>
        </p:blipFill>
        <p:spPr>
          <a:xfrm>
            <a:off x="7955280" y="1979640"/>
            <a:ext cx="3017520" cy="30495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CustomShape 1"/>
          <p:cNvSpPr/>
          <p:nvPr/>
        </p:nvSpPr>
        <p:spPr>
          <a:xfrm>
            <a:off x="457200" y="1051920"/>
            <a:ext cx="6035040" cy="4708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5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Stepped-frequency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continuous-wave (SFCW)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radar transmits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consecutive trains of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sinusoidal signals at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different frequencies</a:t>
            </a:r>
            <a:endParaRPr b="0" lang="en-US" sz="1600" spc="-1" strike="noStrike">
              <a:latin typeface="Arial"/>
            </a:endParaRPr>
          </a:p>
          <a:p>
            <a:pPr marL="228600" indent="-2275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The reflected signals from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different soil layers and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underground objects are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transformed into a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synthetic pulse in time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domain</a:t>
            </a:r>
            <a:endParaRPr b="0" lang="en-US" sz="1600" spc="-1" strike="noStrike">
              <a:latin typeface="Arial"/>
            </a:endParaRPr>
          </a:p>
          <a:p>
            <a:pPr marL="228600" indent="-2275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The synthetic pulse reveal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the soil layers’ depth,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moisture and other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information</a:t>
            </a:r>
            <a:endParaRPr b="0" lang="en-US" sz="1600" spc="-1" strike="noStrike">
              <a:latin typeface="Arial"/>
            </a:endParaRPr>
          </a:p>
          <a:p>
            <a:pPr marL="228600" indent="-2275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Suitable for SDR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implementation as SFCW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radar requires small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instantaneous bandwidth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406" name="" descr=""/>
          <p:cNvPicPr/>
          <p:nvPr/>
        </p:nvPicPr>
        <p:blipFill>
          <a:blip r:embed="rId1"/>
          <a:stretch/>
        </p:blipFill>
        <p:spPr>
          <a:xfrm>
            <a:off x="1737360" y="3474720"/>
            <a:ext cx="2804040" cy="2289240"/>
          </a:xfrm>
          <a:prstGeom prst="rect">
            <a:avLst/>
          </a:prstGeom>
          <a:ln>
            <a:noFill/>
          </a:ln>
        </p:spPr>
      </p:pic>
      <p:sp>
        <p:nvSpPr>
          <p:cNvPr id="407" name="CustomShape 2"/>
          <p:cNvSpPr/>
          <p:nvPr/>
        </p:nvSpPr>
        <p:spPr>
          <a:xfrm>
            <a:off x="543600" y="151200"/>
            <a:ext cx="4872600" cy="230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Soil moisture estimation using software </a:t>
            </a: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defined radar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408" name="CustomShape 3"/>
          <p:cNvSpPr/>
          <p:nvPr/>
        </p:nvSpPr>
        <p:spPr>
          <a:xfrm>
            <a:off x="544680" y="427680"/>
            <a:ext cx="1136160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GB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 Working </a:t>
            </a:r>
            <a:r>
              <a:rPr b="1" lang="en-GB" sz="2400" spc="-1" strike="noStrike">
                <a:solidFill>
                  <a:srgbClr val="000000"/>
                </a:solidFill>
                <a:latin typeface="Arial"/>
                <a:ea typeface="DejaVu Sans"/>
              </a:rPr>
              <a:t>Principle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09" name="CustomShape 4"/>
          <p:cNvSpPr/>
          <p:nvPr/>
        </p:nvSpPr>
        <p:spPr>
          <a:xfrm>
            <a:off x="1189440" y="5852160"/>
            <a:ext cx="4296960" cy="48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SFCW radar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signals: a)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waveform, b)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frequencies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adn c)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spectrogram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410" name="" descr=""/>
          <p:cNvPicPr/>
          <p:nvPr/>
        </p:nvPicPr>
        <p:blipFill>
          <a:blip r:embed="rId2"/>
          <a:stretch/>
        </p:blipFill>
        <p:spPr>
          <a:xfrm>
            <a:off x="7132320" y="1280160"/>
            <a:ext cx="4101480" cy="43506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CustomShape 1"/>
          <p:cNvSpPr/>
          <p:nvPr/>
        </p:nvSpPr>
        <p:spPr>
          <a:xfrm>
            <a:off x="544680" y="427680"/>
            <a:ext cx="11360880" cy="474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LU" sz="2400" spc="-1" strike="noStrike">
                <a:solidFill>
                  <a:srgbClr val="000000"/>
                </a:solidFill>
                <a:latin typeface="Arial"/>
                <a:ea typeface="DejaVu Sans"/>
              </a:rPr>
              <a:t>Hardware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412" name="Table 2"/>
          <p:cNvGraphicFramePr/>
          <p:nvPr/>
        </p:nvGraphicFramePr>
        <p:xfrm>
          <a:off x="426960" y="1264680"/>
          <a:ext cx="11361960" cy="4689360"/>
        </p:xfrm>
        <a:graphic>
          <a:graphicData uri="http://schemas.openxmlformats.org/drawingml/2006/table">
            <a:tbl>
              <a:tblPr/>
              <a:tblGrid>
                <a:gridCol w="2840400"/>
                <a:gridCol w="1012680"/>
                <a:gridCol w="1971720"/>
                <a:gridCol w="5537520"/>
              </a:tblGrid>
              <a:tr h="3049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Components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Units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Unit price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Spec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63936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BladeRF micro A4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540 US dollar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Software defined radio with 2x2 MIMO channels. 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Frequency range: 47MHz to 6GHz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Max sampling rate: 61.44MHz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63936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BT-100 Bias-tee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30 US dollar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Power amplifier (TX)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Frequency range: 50 MHz to 6 GHz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Typ Gain: +15.6 dB at 200 MHz, +10.7 db at 2.4 GHz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63936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BT-200 Bias-tee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30 US dollar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Low noise amplifier (RX)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Frequency range: 50 MHz to 6 GHz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Typ Gain: +20.2 db at 200 MHz, +16 db at 2.4 GHz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2743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BladeRF 2.0 micro case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20 US dollar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PolyCarbonate case for the BladeRF micro A4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82188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RFSpace TSA600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2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74 US dollar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UWB tapered slot antenna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Frequency range: 600 MHz to 6 GHz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Gain: 7 to 11 dBi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63936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ZFDC-20-50-S+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97.53 Euro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Directional Coupler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Frequency range: 20 MHz to 2 GHz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Coupling Factor: 19.5 +/- 0.5 dB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2743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BECEN Attenuator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11.5 Euro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-20 dB attenuator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45684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Arial"/>
                        </a:rPr>
                        <a:t>SMA cables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4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8.5 Euro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Male to male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30 cm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sp>
        <p:nvSpPr>
          <p:cNvPr id="413" name="CustomShape 3"/>
          <p:cNvSpPr/>
          <p:nvPr/>
        </p:nvSpPr>
        <p:spPr>
          <a:xfrm>
            <a:off x="543600" y="915840"/>
            <a:ext cx="11360880" cy="33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1600" spc="-1" strike="noStrike">
                <a:solidFill>
                  <a:srgbClr val="000000"/>
                </a:solidFill>
                <a:latin typeface="Arial"/>
                <a:ea typeface="DejaVu Sans"/>
              </a:rPr>
              <a:t>BoM</a:t>
            </a:r>
            <a:r>
              <a:rPr b="0" lang="en-GB" sz="16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14" name="CustomShape 4"/>
          <p:cNvSpPr/>
          <p:nvPr/>
        </p:nvSpPr>
        <p:spPr>
          <a:xfrm>
            <a:off x="543600" y="151200"/>
            <a:ext cx="4871880" cy="229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Soil moisture estimation using software defined radar</a:t>
            </a:r>
            <a:endParaRPr b="0" lang="en-US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CustomShape 1"/>
          <p:cNvSpPr/>
          <p:nvPr/>
        </p:nvSpPr>
        <p:spPr>
          <a:xfrm>
            <a:off x="544680" y="427680"/>
            <a:ext cx="11360880" cy="474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LU" sz="2400" spc="-1" strike="noStrike">
                <a:solidFill>
                  <a:srgbClr val="000000"/>
                </a:solidFill>
                <a:latin typeface="Arial"/>
                <a:ea typeface="DejaVu Sans"/>
              </a:rPr>
              <a:t>Hardware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16" name="CustomShape 2"/>
          <p:cNvSpPr/>
          <p:nvPr/>
        </p:nvSpPr>
        <p:spPr>
          <a:xfrm>
            <a:off x="543600" y="151200"/>
            <a:ext cx="4871880" cy="229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Soil moisture estimation using software defined radar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417" name="Line 3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3465a4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18" name="Line 4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19" name="Line 5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20" name="Line 6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21" name="Line 7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3465a4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pic>
        <p:nvPicPr>
          <p:cNvPr id="422" name="" descr=""/>
          <p:cNvPicPr/>
          <p:nvPr/>
        </p:nvPicPr>
        <p:blipFill>
          <a:blip r:embed="rId1"/>
          <a:stretch/>
        </p:blipFill>
        <p:spPr>
          <a:xfrm>
            <a:off x="1097280" y="3383280"/>
            <a:ext cx="4393440" cy="2468880"/>
          </a:xfrm>
          <a:prstGeom prst="rect">
            <a:avLst/>
          </a:prstGeom>
          <a:ln>
            <a:noFill/>
          </a:ln>
        </p:spPr>
      </p:pic>
      <p:pic>
        <p:nvPicPr>
          <p:cNvPr id="423" name="" descr=""/>
          <p:cNvPicPr/>
          <p:nvPr/>
        </p:nvPicPr>
        <p:blipFill>
          <a:blip r:embed="rId2"/>
          <a:stretch/>
        </p:blipFill>
        <p:spPr>
          <a:xfrm rot="16198200">
            <a:off x="7018560" y="1082520"/>
            <a:ext cx="3701880" cy="4935600"/>
          </a:xfrm>
          <a:prstGeom prst="rect">
            <a:avLst/>
          </a:prstGeom>
          <a:ln>
            <a:noFill/>
          </a:ln>
        </p:spPr>
      </p:pic>
      <p:sp>
        <p:nvSpPr>
          <p:cNvPr id="424" name="CustomShape 8"/>
          <p:cNvSpPr/>
          <p:nvPr/>
        </p:nvSpPr>
        <p:spPr>
          <a:xfrm>
            <a:off x="6584400" y="4644000"/>
            <a:ext cx="1371240" cy="34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800080"/>
                </a:solidFill>
                <a:highlight>
                  <a:srgbClr val="ffff00"/>
                </a:highlight>
                <a:latin typeface="Arial"/>
              </a:rPr>
              <a:t>TSA600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25" name="CustomShape 9"/>
          <p:cNvSpPr/>
          <p:nvPr/>
        </p:nvSpPr>
        <p:spPr>
          <a:xfrm>
            <a:off x="7224480" y="3180960"/>
            <a:ext cx="1371240" cy="34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800080"/>
                </a:solidFill>
                <a:highlight>
                  <a:srgbClr val="ffff00"/>
                </a:highlight>
                <a:latin typeface="Arial"/>
              </a:rPr>
              <a:t>BladeRF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26" name="CustomShape 10"/>
          <p:cNvSpPr/>
          <p:nvPr/>
        </p:nvSpPr>
        <p:spPr>
          <a:xfrm>
            <a:off x="7773120" y="4075920"/>
            <a:ext cx="639720" cy="34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800080"/>
                </a:solidFill>
                <a:highlight>
                  <a:srgbClr val="ffff00"/>
                </a:highlight>
                <a:latin typeface="Arial"/>
              </a:rPr>
              <a:t>BT200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27" name="CustomShape 11"/>
          <p:cNvSpPr/>
          <p:nvPr/>
        </p:nvSpPr>
        <p:spPr>
          <a:xfrm>
            <a:off x="8596080" y="4003920"/>
            <a:ext cx="639720" cy="34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800080"/>
                </a:solidFill>
                <a:highlight>
                  <a:srgbClr val="ffff00"/>
                </a:highlight>
                <a:latin typeface="Arial"/>
              </a:rPr>
              <a:t>BT100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28" name="CustomShape 12"/>
          <p:cNvSpPr/>
          <p:nvPr/>
        </p:nvSpPr>
        <p:spPr>
          <a:xfrm>
            <a:off x="8138880" y="4624560"/>
            <a:ext cx="914040" cy="259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800080"/>
                </a:solidFill>
                <a:highlight>
                  <a:srgbClr val="ffff00"/>
                </a:highlight>
                <a:latin typeface="Times New Roman"/>
              </a:rPr>
              <a:t>Attenuator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29" name="CustomShape 13"/>
          <p:cNvSpPr/>
          <p:nvPr/>
        </p:nvSpPr>
        <p:spPr>
          <a:xfrm rot="15928200">
            <a:off x="8290080" y="4392720"/>
            <a:ext cx="365400" cy="91080"/>
          </a:xfrm>
          <a:custGeom>
            <a:avLst/>
            <a:gdLst/>
            <a:ahLst/>
            <a:rect l="l" t="t" r="r" b="b"/>
            <a:pathLst>
              <a:path w="1017" h="257">
                <a:moveTo>
                  <a:pt x="0" y="63"/>
                </a:moveTo>
                <a:lnTo>
                  <a:pt x="761" y="63"/>
                </a:lnTo>
                <a:lnTo>
                  <a:pt x="761" y="0"/>
                </a:lnTo>
                <a:lnTo>
                  <a:pt x="1016" y="127"/>
                </a:lnTo>
                <a:lnTo>
                  <a:pt x="761" y="256"/>
                </a:lnTo>
                <a:lnTo>
                  <a:pt x="761" y="192"/>
                </a:lnTo>
                <a:lnTo>
                  <a:pt x="0" y="192"/>
                </a:lnTo>
                <a:lnTo>
                  <a:pt x="0" y="63"/>
                </a:lnTo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30" name="CustomShape 14"/>
          <p:cNvSpPr/>
          <p:nvPr/>
        </p:nvSpPr>
        <p:spPr>
          <a:xfrm>
            <a:off x="9601920" y="3435840"/>
            <a:ext cx="1371240" cy="513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800080"/>
                </a:solidFill>
                <a:highlight>
                  <a:srgbClr val="ffff00"/>
                </a:highlight>
                <a:latin typeface="Arial"/>
              </a:rPr>
              <a:t>Directional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800080"/>
                </a:solidFill>
                <a:highlight>
                  <a:srgbClr val="ffff00"/>
                </a:highlight>
                <a:latin typeface="Arial"/>
              </a:rPr>
              <a:t>Coupler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31" name="CustomShape 15"/>
          <p:cNvSpPr/>
          <p:nvPr/>
        </p:nvSpPr>
        <p:spPr>
          <a:xfrm>
            <a:off x="914400" y="1371600"/>
            <a:ext cx="4480560" cy="1508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5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Central frequency: 1.5Ghz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or 3.5Ghz</a:t>
            </a:r>
            <a:endParaRPr b="0" lang="en-US" sz="1600" spc="-1" strike="noStrike">
              <a:latin typeface="Arial"/>
            </a:endParaRPr>
          </a:p>
          <a:p>
            <a:pPr marL="228600" indent="-2275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Bandwidth: Maximum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6Ghz</a:t>
            </a:r>
            <a:endParaRPr b="0" lang="en-US" sz="1600" spc="-1" strike="noStrike">
              <a:latin typeface="Arial"/>
            </a:endParaRPr>
          </a:p>
          <a:p>
            <a:pPr marL="228600" indent="-2275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Depth Resolution: 15 cm</a:t>
            </a:r>
            <a:endParaRPr b="0" lang="en-US" sz="1600" spc="-1" strike="noStrike">
              <a:latin typeface="Arial"/>
            </a:endParaRPr>
          </a:p>
          <a:p>
            <a:pPr marL="228600" indent="-2275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Mean measurement error: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5%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CustomShape 1"/>
          <p:cNvSpPr/>
          <p:nvPr/>
        </p:nvSpPr>
        <p:spPr>
          <a:xfrm>
            <a:off x="544680" y="427680"/>
            <a:ext cx="11360880" cy="474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LU" sz="2400" spc="-1" strike="noStrike">
                <a:solidFill>
                  <a:srgbClr val="000000"/>
                </a:solidFill>
                <a:latin typeface="Arial"/>
                <a:ea typeface="DejaVu Sans"/>
              </a:rPr>
              <a:t>Experiment example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33" name="CustomShape 2"/>
          <p:cNvSpPr/>
          <p:nvPr/>
        </p:nvSpPr>
        <p:spPr>
          <a:xfrm>
            <a:off x="543600" y="151200"/>
            <a:ext cx="4871880" cy="229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Soil moisture estimation using software defined radar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434" name="CustomShape 3"/>
          <p:cNvSpPr/>
          <p:nvPr/>
        </p:nvSpPr>
        <p:spPr>
          <a:xfrm>
            <a:off x="543600" y="916200"/>
            <a:ext cx="11360880" cy="33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35" name="" descr=""/>
          <p:cNvPicPr/>
          <p:nvPr/>
        </p:nvPicPr>
        <p:blipFill>
          <a:blip r:embed="rId1"/>
          <a:stretch/>
        </p:blipFill>
        <p:spPr>
          <a:xfrm>
            <a:off x="1206720" y="1246680"/>
            <a:ext cx="9857160" cy="4970880"/>
          </a:xfrm>
          <a:prstGeom prst="rect">
            <a:avLst/>
          </a:prstGeom>
          <a:ln>
            <a:noFill/>
          </a:ln>
        </p:spPr>
      </p:pic>
      <p:sp>
        <p:nvSpPr>
          <p:cNvPr id="436" name="CustomShape 4"/>
          <p:cNvSpPr/>
          <p:nvPr/>
        </p:nvSpPr>
        <p:spPr>
          <a:xfrm>
            <a:off x="1989360" y="4297680"/>
            <a:ext cx="1005480" cy="431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9211e"/>
                </a:solidFill>
                <a:highlight>
                  <a:srgbClr val="ffff00"/>
                </a:highlight>
                <a:latin typeface="Arial"/>
              </a:rPr>
              <a:t>Buried objects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37" name="CustomShape 5"/>
          <p:cNvSpPr/>
          <p:nvPr/>
        </p:nvSpPr>
        <p:spPr>
          <a:xfrm>
            <a:off x="2579760" y="4725360"/>
            <a:ext cx="1005480" cy="431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9211e"/>
                </a:solidFill>
                <a:highlight>
                  <a:srgbClr val="ffff00"/>
                </a:highlight>
                <a:latin typeface="Arial"/>
              </a:rPr>
              <a:t>Soil layer 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38" name="CustomShape 6"/>
          <p:cNvSpPr/>
          <p:nvPr/>
        </p:nvSpPr>
        <p:spPr>
          <a:xfrm>
            <a:off x="6309720" y="5029200"/>
            <a:ext cx="164556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9211e"/>
                </a:solidFill>
                <a:highlight>
                  <a:srgbClr val="ffff00"/>
                </a:highlight>
                <a:latin typeface="Arial"/>
              </a:rPr>
              <a:t>Buried objects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39" name="CustomShape 7"/>
          <p:cNvSpPr/>
          <p:nvPr/>
        </p:nvSpPr>
        <p:spPr>
          <a:xfrm rot="16728000">
            <a:off x="6419160" y="4674240"/>
            <a:ext cx="365400" cy="91080"/>
          </a:xfrm>
          <a:custGeom>
            <a:avLst/>
            <a:gdLst/>
            <a:ahLst/>
            <a:rect l="l" t="t" r="r" b="b"/>
            <a:pathLst>
              <a:path w="1018" h="256">
                <a:moveTo>
                  <a:pt x="0" y="64"/>
                </a:moveTo>
                <a:lnTo>
                  <a:pt x="762" y="64"/>
                </a:lnTo>
                <a:lnTo>
                  <a:pt x="761" y="0"/>
                </a:lnTo>
                <a:lnTo>
                  <a:pt x="1017" y="128"/>
                </a:lnTo>
                <a:lnTo>
                  <a:pt x="761" y="255"/>
                </a:lnTo>
                <a:lnTo>
                  <a:pt x="762" y="192"/>
                </a:lnTo>
                <a:lnTo>
                  <a:pt x="0" y="192"/>
                </a:lnTo>
                <a:lnTo>
                  <a:pt x="0" y="64"/>
                </a:lnTo>
              </a:path>
            </a:pathLst>
          </a:custGeom>
          <a:solidFill>
            <a:srgbClr val="bf0041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40" name="CustomShape 8"/>
          <p:cNvSpPr/>
          <p:nvPr/>
        </p:nvSpPr>
        <p:spPr>
          <a:xfrm rot="10789800">
            <a:off x="1737360" y="5612760"/>
            <a:ext cx="456840" cy="92520"/>
          </a:xfrm>
          <a:custGeom>
            <a:avLst/>
            <a:gdLst/>
            <a:ahLst/>
            <a:rect l="l" t="t" r="r" b="b"/>
            <a:pathLst>
              <a:path w="1272" h="260">
                <a:moveTo>
                  <a:pt x="1" y="65"/>
                </a:moveTo>
                <a:lnTo>
                  <a:pt x="954" y="64"/>
                </a:lnTo>
                <a:lnTo>
                  <a:pt x="954" y="0"/>
                </a:lnTo>
                <a:lnTo>
                  <a:pt x="1271" y="129"/>
                </a:lnTo>
                <a:lnTo>
                  <a:pt x="953" y="259"/>
                </a:lnTo>
                <a:lnTo>
                  <a:pt x="953" y="194"/>
                </a:lnTo>
                <a:lnTo>
                  <a:pt x="0" y="195"/>
                </a:lnTo>
                <a:lnTo>
                  <a:pt x="1" y="65"/>
                </a:lnTo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41" name="CustomShape 9"/>
          <p:cNvSpPr/>
          <p:nvPr/>
        </p:nvSpPr>
        <p:spPr>
          <a:xfrm>
            <a:off x="2194560" y="5522400"/>
            <a:ext cx="137124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latin typeface="Arial"/>
              </a:rPr>
              <a:t>Close to radar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42" name="CustomShape 10"/>
          <p:cNvSpPr/>
          <p:nvPr/>
        </p:nvSpPr>
        <p:spPr>
          <a:xfrm>
            <a:off x="5156640" y="5612040"/>
            <a:ext cx="456840" cy="91080"/>
          </a:xfrm>
          <a:custGeom>
            <a:avLst/>
            <a:gdLst/>
            <a:ahLst/>
            <a:rect l="l" t="t" r="r" b="b"/>
            <a:pathLst>
              <a:path w="1272" h="256">
                <a:moveTo>
                  <a:pt x="0" y="63"/>
                </a:moveTo>
                <a:lnTo>
                  <a:pt x="953" y="63"/>
                </a:lnTo>
                <a:lnTo>
                  <a:pt x="953" y="0"/>
                </a:lnTo>
                <a:lnTo>
                  <a:pt x="1271" y="127"/>
                </a:lnTo>
                <a:lnTo>
                  <a:pt x="953" y="255"/>
                </a:lnTo>
                <a:lnTo>
                  <a:pt x="953" y="191"/>
                </a:lnTo>
                <a:lnTo>
                  <a:pt x="0" y="191"/>
                </a:lnTo>
                <a:lnTo>
                  <a:pt x="0" y="63"/>
                </a:lnTo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43" name="CustomShape 11"/>
          <p:cNvSpPr/>
          <p:nvPr/>
        </p:nvSpPr>
        <p:spPr>
          <a:xfrm>
            <a:off x="3948480" y="5522400"/>
            <a:ext cx="137124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latin typeface="Arial"/>
              </a:rPr>
              <a:t>Away from radar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44" name="CustomShape 12"/>
          <p:cNvSpPr/>
          <p:nvPr/>
        </p:nvSpPr>
        <p:spPr>
          <a:xfrm rot="10789800">
            <a:off x="6309000" y="5666760"/>
            <a:ext cx="456840" cy="92520"/>
          </a:xfrm>
          <a:custGeom>
            <a:avLst/>
            <a:gdLst/>
            <a:ahLst/>
            <a:rect l="l" t="t" r="r" b="b"/>
            <a:pathLst>
              <a:path w="1272" h="260">
                <a:moveTo>
                  <a:pt x="0" y="65"/>
                </a:moveTo>
                <a:lnTo>
                  <a:pt x="953" y="64"/>
                </a:lnTo>
                <a:lnTo>
                  <a:pt x="953" y="0"/>
                </a:lnTo>
                <a:lnTo>
                  <a:pt x="1271" y="128"/>
                </a:lnTo>
                <a:lnTo>
                  <a:pt x="953" y="259"/>
                </a:lnTo>
                <a:lnTo>
                  <a:pt x="953" y="194"/>
                </a:lnTo>
                <a:lnTo>
                  <a:pt x="0" y="195"/>
                </a:lnTo>
                <a:lnTo>
                  <a:pt x="0" y="65"/>
                </a:lnTo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45" name="CustomShape 13"/>
          <p:cNvSpPr/>
          <p:nvPr/>
        </p:nvSpPr>
        <p:spPr>
          <a:xfrm>
            <a:off x="6766560" y="5577840"/>
            <a:ext cx="137124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latin typeface="Arial"/>
              </a:rPr>
              <a:t>Close to radar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46" name="CustomShape 14"/>
          <p:cNvSpPr/>
          <p:nvPr/>
        </p:nvSpPr>
        <p:spPr>
          <a:xfrm>
            <a:off x="10058400" y="5669280"/>
            <a:ext cx="456840" cy="91080"/>
          </a:xfrm>
          <a:custGeom>
            <a:avLst/>
            <a:gdLst/>
            <a:ahLst/>
            <a:rect l="l" t="t" r="r" b="b"/>
            <a:pathLst>
              <a:path w="1272" h="256">
                <a:moveTo>
                  <a:pt x="0" y="63"/>
                </a:moveTo>
                <a:lnTo>
                  <a:pt x="953" y="63"/>
                </a:lnTo>
                <a:lnTo>
                  <a:pt x="953" y="0"/>
                </a:lnTo>
                <a:lnTo>
                  <a:pt x="1271" y="127"/>
                </a:lnTo>
                <a:lnTo>
                  <a:pt x="953" y="255"/>
                </a:lnTo>
                <a:lnTo>
                  <a:pt x="953" y="191"/>
                </a:lnTo>
                <a:lnTo>
                  <a:pt x="0" y="191"/>
                </a:lnTo>
                <a:lnTo>
                  <a:pt x="0" y="63"/>
                </a:lnTo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47" name="CustomShape 15"/>
          <p:cNvSpPr/>
          <p:nvPr/>
        </p:nvSpPr>
        <p:spPr>
          <a:xfrm>
            <a:off x="8778240" y="5577840"/>
            <a:ext cx="137124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latin typeface="Arial"/>
              </a:rPr>
              <a:t>Away from radar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48" name="CustomShape 16"/>
          <p:cNvSpPr/>
          <p:nvPr/>
        </p:nvSpPr>
        <p:spPr>
          <a:xfrm>
            <a:off x="4023360" y="6231240"/>
            <a:ext cx="1279800" cy="601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latin typeface="Arial"/>
              </a:rPr>
              <a:t>Click this button to scan just once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49" name="CustomShape 17"/>
          <p:cNvSpPr/>
          <p:nvPr/>
        </p:nvSpPr>
        <p:spPr>
          <a:xfrm>
            <a:off x="6838560" y="6231240"/>
            <a:ext cx="1554120" cy="260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latin typeface="Arial"/>
              </a:rPr>
              <a:t>Scan contentiously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50" name="CustomShape 18"/>
          <p:cNvSpPr/>
          <p:nvPr/>
        </p:nvSpPr>
        <p:spPr>
          <a:xfrm rot="19002600">
            <a:off x="4591080" y="6048000"/>
            <a:ext cx="487800" cy="91080"/>
          </a:xfrm>
          <a:custGeom>
            <a:avLst/>
            <a:gdLst/>
            <a:ahLst/>
            <a:rect l="l" t="t" r="r" b="b"/>
            <a:pathLst>
              <a:path w="1358" h="256">
                <a:moveTo>
                  <a:pt x="1" y="64"/>
                </a:moveTo>
                <a:lnTo>
                  <a:pt x="1017" y="63"/>
                </a:lnTo>
                <a:lnTo>
                  <a:pt x="1017" y="0"/>
                </a:lnTo>
                <a:lnTo>
                  <a:pt x="1357" y="126"/>
                </a:lnTo>
                <a:lnTo>
                  <a:pt x="1018" y="255"/>
                </a:lnTo>
                <a:lnTo>
                  <a:pt x="1018" y="191"/>
                </a:lnTo>
                <a:lnTo>
                  <a:pt x="0" y="192"/>
                </a:lnTo>
                <a:lnTo>
                  <a:pt x="1" y="64"/>
                </a:lnTo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51" name="CustomShape 19"/>
          <p:cNvSpPr/>
          <p:nvPr/>
        </p:nvSpPr>
        <p:spPr>
          <a:xfrm rot="12281400">
            <a:off x="6397560" y="6169680"/>
            <a:ext cx="487800" cy="91080"/>
          </a:xfrm>
          <a:custGeom>
            <a:avLst/>
            <a:gdLst/>
            <a:ahLst/>
            <a:rect l="l" t="t" r="r" b="b"/>
            <a:pathLst>
              <a:path w="1358" h="256">
                <a:moveTo>
                  <a:pt x="0" y="63"/>
                </a:moveTo>
                <a:lnTo>
                  <a:pt x="1017" y="62"/>
                </a:lnTo>
                <a:lnTo>
                  <a:pt x="1017" y="0"/>
                </a:lnTo>
                <a:lnTo>
                  <a:pt x="1357" y="127"/>
                </a:lnTo>
                <a:lnTo>
                  <a:pt x="1017" y="255"/>
                </a:lnTo>
                <a:lnTo>
                  <a:pt x="1017" y="191"/>
                </a:lnTo>
                <a:lnTo>
                  <a:pt x="0" y="191"/>
                </a:lnTo>
                <a:lnTo>
                  <a:pt x="0" y="63"/>
                </a:lnTo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52" name="CustomShape 20"/>
          <p:cNvSpPr/>
          <p:nvPr/>
        </p:nvSpPr>
        <p:spPr>
          <a:xfrm>
            <a:off x="1189080" y="4728960"/>
            <a:ext cx="1005480" cy="274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9211e"/>
                </a:solidFill>
                <a:highlight>
                  <a:srgbClr val="ffff00"/>
                </a:highlight>
                <a:latin typeface="Arial"/>
              </a:rPr>
              <a:t>Soil layer 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0C733D9C6487A428B88740F3F817FE0" ma:contentTypeVersion="21" ma:contentTypeDescription="Create a new document." ma:contentTypeScope="" ma:versionID="85c7a5dff1f0661f3996a2b7e2161126">
  <xsd:schema xmlns:xsd="http://www.w3.org/2001/XMLSchema" xmlns:xs="http://www.w3.org/2001/XMLSchema" xmlns:p="http://schemas.microsoft.com/office/2006/metadata/properties" xmlns:ns2="b9887ba6-eee9-4706-bbef-3d72972728aa" xmlns:ns3="f47c8816-27ad-45f9-86d9-8ac5972dd892" targetNamespace="http://schemas.microsoft.com/office/2006/metadata/properties" ma:root="true" ma:fieldsID="5ff8336e86aef6b12ad0bcb64fd53936" ns2:_="" ns3:_="">
    <xsd:import namespace="b9887ba6-eee9-4706-bbef-3d72972728aa"/>
    <xsd:import namespace="f47c8816-27ad-45f9-86d9-8ac5972dd892"/>
    <xsd:element name="properties">
      <xsd:complexType>
        <xsd:sequence>
          <xsd:element name="documentManagement">
            <xsd:complexType>
              <xsd:all>
                <xsd:element ref="ns2:o606121503634f60aadbd34f286ff3d9" minOccurs="0"/>
                <xsd:element ref="ns2:a60e8a9bb7a5498084be0308f3b51622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3:MediaServiceDateTaken" minOccurs="0"/>
                <xsd:element ref="ns3:MediaServiceObjectDetectorVersions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887ba6-eee9-4706-bbef-3d72972728aa" elementFormDefault="qualified">
    <xsd:import namespace="http://schemas.microsoft.com/office/2006/documentManagement/types"/>
    <xsd:import namespace="http://schemas.microsoft.com/office/infopath/2007/PartnerControls"/>
    <xsd:element name="o606121503634f60aadbd34f286ff3d9" ma:index="8" nillable="true" ma:taxonomy="true" ma:internalName="o606121503634f60aadbd34f286ff3d9" ma:taxonomyFieldName="Document_x0020_Category" ma:displayName="Document Category" ma:readOnly="false" ma:fieldId="{86061215-0363-4f60-aadb-d34f286ff3d9}" ma:taxonomyMulti="true" ma:sspId="b1350db3-1762-4bf1-805b-8e7c55ddee46" ma:termSetId="8467628b-cc19-41c8-84de-1e197b3524fe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a60e8a9bb7a5498084be0308f3b51622" ma:index="10" nillable="true" ma:taxonomy="true" ma:internalName="a60e8a9bb7a5498084be0308f3b51622" ma:taxonomyFieldName="The_x0020_University" ma:displayName="The University" ma:readOnly="false" ma:fieldId="{a60e8a9b-b7a5-4980-84be-0308f3b51622}" ma:taxonomyMulti="true" ma:sspId="b1350db3-1762-4bf1-805b-8e7c55ddee46" ma:termSetId="d027352d-354c-4edb-9a10-0a26093ac2d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2" nillable="true" ma:displayName="Taxonomy Catch All Column" ma:hidden="true" ma:list="{06ff742b-95bc-48cb-bb7d-d83b8427127d}" ma:internalName="TaxCatchAll" ma:showField="CatchAllData" ma:web="b9887ba6-eee9-4706-bbef-3d72972728a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7c8816-27ad-45f9-86d9-8ac5972dd8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Balises d’images" ma:readOnly="false" ma:fieldId="{5cf76f15-5ced-4ddc-b409-7134ff3c332f}" ma:taxonomyMulti="true" ma:sspId="b1350db3-1762-4bf1-805b-8e7c55ddee4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9887ba6-eee9-4706-bbef-3d72972728aa" xsi:nil="true"/>
    <o606121503634f60aadbd34f286ff3d9 xmlns="b9887ba6-eee9-4706-bbef-3d72972728aa">
      <Terms xmlns="http://schemas.microsoft.com/office/infopath/2007/PartnerControls"/>
    </o606121503634f60aadbd34f286ff3d9>
    <a60e8a9bb7a5498084be0308f3b51622 xmlns="b9887ba6-eee9-4706-bbef-3d72972728aa">
      <Terms xmlns="http://schemas.microsoft.com/office/infopath/2007/PartnerControls"/>
    </a60e8a9bb7a5498084be0308f3b51622>
    <lcf76f155ced4ddcb4097134ff3c332f xmlns="f47c8816-27ad-45f9-86d9-8ac5972dd892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C64FDA6-8968-4BD9-91FC-549ED86B53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887ba6-eee9-4706-bbef-3d72972728aa"/>
    <ds:schemaRef ds:uri="f47c8816-27ad-45f9-86d9-8ac5972dd8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B863BE2-1074-453D-8C43-F08EB45BB408}">
  <ds:schemaRefs>
    <ds:schemaRef ds:uri="a6c533f7-61db-40a9-92cc-7bf39d0de398"/>
    <ds:schemaRef ds:uri="b9887ba6-eee9-4706-bbef-3d72972728aa"/>
    <ds:schemaRef ds:uri="f47c8816-27ad-45f9-86d9-8ac5972dd892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3CB98C08-2A96-4627-A7AB-076B37EB6EB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2024-02-16T10:12:28Z</dcterms:created>
  <dc:creator>Kerryn RAMM</dc:creator>
  <dc:description/>
  <dc:language>en-US</dc:language>
  <cp:lastModifiedBy/>
  <dcterms:modified xsi:type="dcterms:W3CDTF">2024-10-08T23:26:56Z</dcterms:modified>
  <cp:revision>65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ntentTypeId">
    <vt:lpwstr>0x01010040C733D9C6487A428B88740F3F817FE0</vt:lpwstr>
  </property>
  <property fmtid="{D5CDD505-2E9C-101B-9397-08002B2CF9AE}" pid="4" name="Document Category">
    <vt:lpwstr/>
  </property>
  <property fmtid="{D5CDD505-2E9C-101B-9397-08002B2CF9AE}" pid="5" name="HiddenSlides">
    <vt:i4>0</vt:i4>
  </property>
  <property fmtid="{D5CDD505-2E9C-101B-9397-08002B2CF9AE}" pid="6" name="HyperlinksChanged">
    <vt:bool>0</vt:bool>
  </property>
  <property fmtid="{D5CDD505-2E9C-101B-9397-08002B2CF9AE}" pid="7" name="LinksUpToDate">
    <vt:bool>0</vt:bool>
  </property>
  <property fmtid="{D5CDD505-2E9C-101B-9397-08002B2CF9AE}" pid="8" name="MediaServiceImageTags">
    <vt:lpwstr/>
  </property>
  <property fmtid="{D5CDD505-2E9C-101B-9397-08002B2CF9AE}" pid="9" name="Notes">
    <vt:i4>1</vt:i4>
  </property>
  <property fmtid="{D5CDD505-2E9C-101B-9397-08002B2CF9AE}" pid="10" name="PresentationFormat">
    <vt:lpwstr>Widescreen</vt:lpwstr>
  </property>
  <property fmtid="{D5CDD505-2E9C-101B-9397-08002B2CF9AE}" pid="11" name="ScaleCrop">
    <vt:bool>0</vt:bool>
  </property>
  <property fmtid="{D5CDD505-2E9C-101B-9397-08002B2CF9AE}" pid="12" name="ShareDoc">
    <vt:bool>0</vt:bool>
  </property>
  <property fmtid="{D5CDD505-2E9C-101B-9397-08002B2CF9AE}" pid="13" name="Slides">
    <vt:i4>22</vt:i4>
  </property>
  <property fmtid="{D5CDD505-2E9C-101B-9397-08002B2CF9AE}" pid="14" name="The University">
    <vt:lpwstr/>
  </property>
</Properties>
</file>