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1.jpeg" ContentType="image/jpeg"/>
  <Override PartName="/ppt/media/image27.png" ContentType="image/png"/>
  <Override PartName="/ppt/media/image26.jpeg" ContentType="image/jpeg"/>
  <Override PartName="/ppt/media/image25.jpeg" ContentType="image/jpeg"/>
  <Override PartName="/ppt/media/image32.png" ContentType="image/png"/>
  <Override PartName="/ppt/media/image24.png" ContentType="image/png"/>
  <Override PartName="/ppt/media/image11.jpeg" ContentType="image/jpeg"/>
  <Override PartName="/ppt/media/image22.wmf" ContentType="image/x-wmf"/>
  <Override PartName="/ppt/media/image20.jpeg" ContentType="image/jpeg"/>
  <Override PartName="/ppt/media/image19.jpeg" ContentType="image/jpeg"/>
  <Override PartName="/ppt/media/image10.jpeg" ContentType="image/jpeg"/>
  <Override PartName="/ppt/media/image30.png" ContentType="image/png"/>
  <Override PartName="/ppt/media/image5.png" ContentType="image/png"/>
  <Override PartName="/ppt/media/image35.png" ContentType="image/png"/>
  <Override PartName="/ppt/media/image9.jpeg" ContentType="image/jpeg"/>
  <Override PartName="/ppt/media/image40.png" ContentType="image/png"/>
  <Override PartName="/ppt/media/image23.wmf" ContentType="image/x-wmf"/>
  <Override PartName="/ppt/media/image8.jpeg" ContentType="image/jpeg"/>
  <Override PartName="/ppt/media/image38.png" ContentType="image/png"/>
  <Override PartName="/ppt/media/image39.jpeg" ContentType="image/jpeg"/>
  <Override PartName="/ppt/media/image4.wmf" ContentType="image/x-wmf"/>
  <Override PartName="/ppt/media/image31.png" ContentType="image/png"/>
  <Override PartName="/ppt/media/image33.png" ContentType="image/png"/>
  <Override PartName="/ppt/media/image14.jpeg" ContentType="image/jpeg"/>
  <Override PartName="/ppt/media/image36.png" ContentType="image/png"/>
  <Override PartName="/ppt/media/image18.jpeg" ContentType="image/jpeg"/>
  <Override PartName="/ppt/media/image37.png" ContentType="image/png"/>
  <Override PartName="/ppt/media/image34.png" ContentType="image/png"/>
  <Override PartName="/ppt/media/image12.jpeg" ContentType="image/jpeg"/>
  <Override PartName="/ppt/media/image28.png" ContentType="image/png"/>
  <Override PartName="/ppt/media/image7.jpeg" ContentType="image/jpeg"/>
  <Override PartName="/ppt/media/image6.jpeg" ContentType="image/jpeg"/>
  <Override PartName="/ppt/media/image13.jpeg" ContentType="image/jpeg"/>
  <Override PartName="/ppt/media/image3.wmf" ContentType="image/x-wmf"/>
  <Override PartName="/ppt/media/image15.jpeg" ContentType="image/jpeg"/>
  <Override PartName="/ppt/media/image2.jpeg" ContentType="image/jpeg"/>
  <Override PartName="/ppt/media/image1.jpeg" ContentType="image/jpeg"/>
  <Override PartName="/ppt/media/image16.jpeg" ContentType="image/jpeg"/>
  <Override PartName="/ppt/media/image17.jpeg" ContentType="image/jpeg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image" Target="../media/image22.wmf"/><Relationship Id="rId5" Type="http://schemas.openxmlformats.org/officeDocument/2006/relationships/image" Target="../media/image23.wmf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8.xml"/><Relationship Id="rId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5.jpeg"/><Relationship Id="rId3" Type="http://schemas.openxmlformats.org/officeDocument/2006/relationships/image" Target="../media/image26.jpeg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1" name="Picture 11" descr="A picture containing boat, sitting, water, large&#10;&#10;Description automatically generated"/>
          <p:cNvPicPr/>
          <p:nvPr/>
        </p:nvPicPr>
        <p:blipFill>
          <a:blip r:embed="rId3"/>
          <a:stretch/>
        </p:blipFill>
        <p:spPr>
          <a:xfrm>
            <a:off x="-24840" y="0"/>
            <a:ext cx="12214440" cy="6855840"/>
          </a:xfrm>
          <a:prstGeom prst="rect">
            <a:avLst/>
          </a:prstGeom>
          <a:ln>
            <a:noFill/>
          </a:ln>
        </p:spPr>
      </p:pic>
      <p:sp>
        <p:nvSpPr>
          <p:cNvPr id="2" name="CustomShape 1"/>
          <p:cNvSpPr/>
          <p:nvPr/>
        </p:nvSpPr>
        <p:spPr>
          <a:xfrm>
            <a:off x="952920" y="2551680"/>
            <a:ext cx="5059800" cy="173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DejaVu Sans"/>
              </a:rPr>
              <a:t>Interdisciplinary Centre for Security, Reliability and Trust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24840" y="5825880"/>
            <a:ext cx="12214440" cy="1416240"/>
            <a:chOff x="-24840" y="5825880"/>
            <a:chExt cx="12214440" cy="1416240"/>
          </a:xfrm>
        </p:grpSpPr>
        <p:pic>
          <p:nvPicPr>
            <p:cNvPr id="4" name="Image 5" descr="Bande_Logo_UNI_PP_right_long.eps"/>
            <p:cNvPicPr/>
            <p:nvPr/>
          </p:nvPicPr>
          <p:blipFill>
            <a:blip r:embed="rId4"/>
            <a:srcRect l="42064" t="0" r="2500" b="52663"/>
            <a:stretch/>
          </p:blipFill>
          <p:spPr>
            <a:xfrm>
              <a:off x="-24840" y="5825880"/>
              <a:ext cx="12214440" cy="1053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CustomShape 3"/>
            <p:cNvSpPr/>
            <p:nvPr/>
          </p:nvSpPr>
          <p:spPr>
            <a:xfrm>
              <a:off x="10500840" y="5987520"/>
              <a:ext cx="958680" cy="891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6" name="Picture 10" descr=""/>
            <p:cNvPicPr/>
            <p:nvPr/>
          </p:nvPicPr>
          <p:blipFill>
            <a:blip r:embed="rId5"/>
            <a:srcRect l="0" t="22054" r="0" b="0"/>
            <a:stretch/>
          </p:blipFill>
          <p:spPr>
            <a:xfrm>
              <a:off x="10151640" y="5987520"/>
              <a:ext cx="1610280" cy="12546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7" name="Graphic 12" descr=""/>
          <p:cNvPicPr/>
          <p:nvPr/>
        </p:nvPicPr>
        <p:blipFill>
          <a:blip r:embed="rId6"/>
          <a:stretch/>
        </p:blipFill>
        <p:spPr>
          <a:xfrm>
            <a:off x="1070280" y="1386000"/>
            <a:ext cx="1254240" cy="985680"/>
          </a:xfrm>
          <a:prstGeom prst="rect">
            <a:avLst/>
          </a:prstGeom>
          <a:ln>
            <a:noFill/>
          </a:ln>
        </p:spPr>
      </p:pic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160" cy="585360"/>
          </a:xfrm>
          <a:prstGeom prst="rect">
            <a:avLst/>
          </a:prstGeom>
          <a:ln>
            <a:noFill/>
          </a:ln>
        </p:spPr>
      </p:pic>
      <p:pic>
        <p:nvPicPr>
          <p:cNvPr id="47" name="Picture 12" descr=""/>
          <p:cNvPicPr/>
          <p:nvPr/>
        </p:nvPicPr>
        <p:blipFill>
          <a:blip r:embed="rId3"/>
          <a:stretch/>
        </p:blipFill>
        <p:spPr>
          <a:xfrm flipH="1">
            <a:off x="1440" y="2336040"/>
            <a:ext cx="5479920" cy="452052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123120" y="150840"/>
            <a:ext cx="37080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FC101E96-DB42-46CF-8F61-99A945847AF1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49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90" name="Picture 6" descr=""/>
          <p:cNvPicPr/>
          <p:nvPr/>
        </p:nvPicPr>
        <p:blipFill>
          <a:blip r:embed="rId3"/>
          <a:stretch/>
        </p:blipFill>
        <p:spPr>
          <a:xfrm flipH="1">
            <a:off x="2160" y="2336040"/>
            <a:ext cx="5479200" cy="4519800"/>
          </a:xfrm>
          <a:prstGeom prst="rect">
            <a:avLst/>
          </a:prstGeom>
          <a:ln>
            <a:noFill/>
          </a:ln>
        </p:spPr>
      </p:pic>
      <p:sp>
        <p:nvSpPr>
          <p:cNvPr id="91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2"/>
          <p:cNvSpPr/>
          <p:nvPr/>
        </p:nvSpPr>
        <p:spPr>
          <a:xfrm>
            <a:off x="123120" y="150840"/>
            <a:ext cx="37008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B2DF963D-14F0-4533-92B4-62B57643E5F0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93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133" name="Picture 6" descr=""/>
          <p:cNvPicPr/>
          <p:nvPr/>
        </p:nvPicPr>
        <p:blipFill>
          <a:blip r:embed="rId3"/>
          <a:stretch/>
        </p:blipFill>
        <p:spPr>
          <a:xfrm flipH="1">
            <a:off x="2160" y="2336040"/>
            <a:ext cx="5479200" cy="4519800"/>
          </a:xfrm>
          <a:prstGeom prst="rect">
            <a:avLst/>
          </a:prstGeom>
          <a:ln>
            <a:noFill/>
          </a:ln>
        </p:spPr>
      </p:pic>
      <p:sp>
        <p:nvSpPr>
          <p:cNvPr id="134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ustomShape 2"/>
          <p:cNvSpPr/>
          <p:nvPr/>
        </p:nvSpPr>
        <p:spPr>
          <a:xfrm>
            <a:off x="123120" y="150840"/>
            <a:ext cx="37008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4B3D5965-E08B-42BE-AC61-E6951B5BFC56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36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176" name="Picture 6" descr=""/>
          <p:cNvPicPr/>
          <p:nvPr/>
        </p:nvPicPr>
        <p:blipFill>
          <a:blip r:embed="rId3"/>
          <a:stretch/>
        </p:blipFill>
        <p:spPr>
          <a:xfrm flipH="1">
            <a:off x="2160" y="2336040"/>
            <a:ext cx="5479200" cy="4519800"/>
          </a:xfrm>
          <a:prstGeom prst="rect">
            <a:avLst/>
          </a:prstGeom>
          <a:ln>
            <a:noFill/>
          </a:ln>
        </p:spPr>
      </p:pic>
      <p:sp>
        <p:nvSpPr>
          <p:cNvPr id="177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CustomShape 2"/>
          <p:cNvSpPr/>
          <p:nvPr/>
        </p:nvSpPr>
        <p:spPr>
          <a:xfrm>
            <a:off x="123120" y="150840"/>
            <a:ext cx="37008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0401C353-7584-41FB-8F70-18B33587F45F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79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219" name="Picture 12" descr=""/>
          <p:cNvPicPr/>
          <p:nvPr/>
        </p:nvPicPr>
        <p:blipFill>
          <a:blip r:embed="rId3"/>
          <a:stretch/>
        </p:blipFill>
        <p:spPr>
          <a:xfrm flipH="1">
            <a:off x="2160" y="2336040"/>
            <a:ext cx="5479200" cy="4519800"/>
          </a:xfrm>
          <a:prstGeom prst="rect">
            <a:avLst/>
          </a:prstGeom>
          <a:ln>
            <a:noFill/>
          </a:ln>
        </p:spPr>
      </p:pic>
      <p:sp>
        <p:nvSpPr>
          <p:cNvPr id="220" name="CustomShape 1"/>
          <p:cNvSpPr/>
          <p:nvPr/>
        </p:nvSpPr>
        <p:spPr>
          <a:xfrm>
            <a:off x="123120" y="150840"/>
            <a:ext cx="37008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B34ABD5E-88EC-47B7-8A33-2C355DCE4E22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21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2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262" name="Picture 12" descr=""/>
          <p:cNvPicPr/>
          <p:nvPr/>
        </p:nvPicPr>
        <p:blipFill>
          <a:blip r:embed="rId3"/>
          <a:stretch/>
        </p:blipFill>
        <p:spPr>
          <a:xfrm flipH="1">
            <a:off x="2160" y="2336040"/>
            <a:ext cx="5479200" cy="4519800"/>
          </a:xfrm>
          <a:prstGeom prst="rect">
            <a:avLst/>
          </a:prstGeom>
          <a:ln>
            <a:noFill/>
          </a:ln>
        </p:spPr>
      </p:pic>
      <p:sp>
        <p:nvSpPr>
          <p:cNvPr id="263" name="CustomShape 1"/>
          <p:cNvSpPr/>
          <p:nvPr/>
        </p:nvSpPr>
        <p:spPr>
          <a:xfrm>
            <a:off x="123120" y="150840"/>
            <a:ext cx="37008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E220FB91-CB69-439E-B195-D764845C3CB9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64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305" name="Picture 12" descr=""/>
          <p:cNvPicPr/>
          <p:nvPr/>
        </p:nvPicPr>
        <p:blipFill>
          <a:blip r:embed="rId3"/>
          <a:stretch/>
        </p:blipFill>
        <p:spPr>
          <a:xfrm flipH="1">
            <a:off x="2160" y="2336040"/>
            <a:ext cx="5479200" cy="4519800"/>
          </a:xfrm>
          <a:prstGeom prst="rect">
            <a:avLst/>
          </a:prstGeom>
          <a:ln>
            <a:noFill/>
          </a:ln>
        </p:spPr>
      </p:pic>
      <p:sp>
        <p:nvSpPr>
          <p:cNvPr id="306" name="CustomShape 1"/>
          <p:cNvSpPr/>
          <p:nvPr/>
        </p:nvSpPr>
        <p:spPr>
          <a:xfrm>
            <a:off x="123120" y="150840"/>
            <a:ext cx="37008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15FEDFB0-554A-4E21-B4B9-A818D3A4C313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307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8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348" name="Picture 11" descr="A picture containing boat, sitting, water, large&#10;&#10;Description automatically generated"/>
          <p:cNvPicPr/>
          <p:nvPr/>
        </p:nvPicPr>
        <p:blipFill>
          <a:blip r:embed="rId3"/>
          <a:stretch/>
        </p:blipFill>
        <p:spPr>
          <a:xfrm>
            <a:off x="-24840" y="0"/>
            <a:ext cx="12214440" cy="6855840"/>
          </a:xfrm>
          <a:prstGeom prst="rect">
            <a:avLst/>
          </a:prstGeom>
          <a:ln>
            <a:noFill/>
          </a:ln>
        </p:spPr>
      </p:pic>
      <p:sp>
        <p:nvSpPr>
          <p:cNvPr id="349" name="CustomShape 1"/>
          <p:cNvSpPr/>
          <p:nvPr/>
        </p:nvSpPr>
        <p:spPr>
          <a:xfrm>
            <a:off x="952920" y="2551680"/>
            <a:ext cx="5059800" cy="173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DejaVu Sans"/>
              </a:rPr>
              <a:t>Interdisciplinary Centre for Security, Reliability and Trust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50" name="Group 2"/>
          <p:cNvGrpSpPr/>
          <p:nvPr/>
        </p:nvGrpSpPr>
        <p:grpSpPr>
          <a:xfrm>
            <a:off x="-24840" y="5825880"/>
            <a:ext cx="12214440" cy="1416240"/>
            <a:chOff x="-24840" y="5825880"/>
            <a:chExt cx="12214440" cy="1416240"/>
          </a:xfrm>
        </p:grpSpPr>
        <p:pic>
          <p:nvPicPr>
            <p:cNvPr id="351" name="Image 5" descr="Bande_Logo_UNI_PP_right_long.eps"/>
            <p:cNvPicPr/>
            <p:nvPr/>
          </p:nvPicPr>
          <p:blipFill>
            <a:blip r:embed="rId4"/>
            <a:srcRect l="42064" t="0" r="2500" b="52663"/>
            <a:stretch/>
          </p:blipFill>
          <p:spPr>
            <a:xfrm>
              <a:off x="-24840" y="5825880"/>
              <a:ext cx="12214440" cy="1053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352" name="CustomShape 3"/>
            <p:cNvSpPr/>
            <p:nvPr/>
          </p:nvSpPr>
          <p:spPr>
            <a:xfrm>
              <a:off x="10500840" y="5987520"/>
              <a:ext cx="958680" cy="891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53" name="Picture 10" descr=""/>
            <p:cNvPicPr/>
            <p:nvPr/>
          </p:nvPicPr>
          <p:blipFill>
            <a:blip r:embed="rId5"/>
            <a:srcRect l="0" t="22054" r="0" b="0"/>
            <a:stretch/>
          </p:blipFill>
          <p:spPr>
            <a:xfrm>
              <a:off x="10151640" y="5987520"/>
              <a:ext cx="1610280" cy="12546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354" name="Graphic 12" descr=""/>
          <p:cNvPicPr/>
          <p:nvPr/>
        </p:nvPicPr>
        <p:blipFill>
          <a:blip r:embed="rId6"/>
          <a:stretch/>
        </p:blipFill>
        <p:spPr>
          <a:xfrm>
            <a:off x="1070280" y="1386000"/>
            <a:ext cx="1254240" cy="985680"/>
          </a:xfrm>
          <a:prstGeom prst="rect">
            <a:avLst/>
          </a:prstGeom>
          <a:ln>
            <a:noFill/>
          </a:ln>
        </p:spPr>
      </p:pic>
      <p:sp>
        <p:nvSpPr>
          <p:cNvPr id="3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</a:t>
            </a:r>
            <a:r>
              <a:rPr b="0" lang="en-US" sz="4400" spc="-1" strike="noStrike">
                <a:latin typeface="Arial"/>
              </a:rPr>
              <a:t>k 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440" cy="584640"/>
          </a:xfrm>
          <a:prstGeom prst="rect">
            <a:avLst/>
          </a:prstGeom>
          <a:ln>
            <a:noFill/>
          </a:ln>
        </p:spPr>
      </p:pic>
      <p:pic>
        <p:nvPicPr>
          <p:cNvPr id="394" name="Picture 6" descr=""/>
          <p:cNvPicPr/>
          <p:nvPr/>
        </p:nvPicPr>
        <p:blipFill>
          <a:blip r:embed="rId3"/>
          <a:stretch/>
        </p:blipFill>
        <p:spPr>
          <a:xfrm flipH="1">
            <a:off x="2160" y="2336040"/>
            <a:ext cx="5479200" cy="4519800"/>
          </a:xfrm>
          <a:prstGeom prst="rect">
            <a:avLst/>
          </a:prstGeom>
          <a:ln>
            <a:noFill/>
          </a:ln>
        </p:spPr>
      </p:pic>
      <p:sp>
        <p:nvSpPr>
          <p:cNvPr id="395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6" name="CustomShape 2"/>
          <p:cNvSpPr/>
          <p:nvPr/>
        </p:nvSpPr>
        <p:spPr>
          <a:xfrm>
            <a:off x="123120" y="150840"/>
            <a:ext cx="37008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39A00837-6545-4B41-8573-60BF6B1D5798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397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8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jpe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CustomShape 1"/>
          <p:cNvSpPr/>
          <p:nvPr/>
        </p:nvSpPr>
        <p:spPr>
          <a:xfrm>
            <a:off x="1828800" y="5024160"/>
            <a:ext cx="8595360" cy="54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High Range Resolution </a:t>
            </a:r>
            <a:r>
              <a:rPr b="1" lang="en-GB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Software Defined Radar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38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Motivation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9" name="CustomShape 3"/>
          <p:cNvSpPr/>
          <p:nvPr/>
        </p:nvSpPr>
        <p:spPr>
          <a:xfrm>
            <a:off x="543600" y="1645920"/>
            <a:ext cx="5463720" cy="347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Radar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: Transmitting RF signals and then analysis of their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reflections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Software Defined Radio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: a radio that can change its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purpose with a simple software update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00a933"/>
                </a:solidFill>
                <a:latin typeface="Arial"/>
                <a:ea typeface="DejaVu Sans"/>
              </a:rPr>
              <a:t>Software Defined Radar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: Radar implemented on top of a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SDR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Flexibility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Cost-Effectiveness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Adaptability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Rapid Prototyping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40" name="" descr=""/>
          <p:cNvPicPr/>
          <p:nvPr/>
        </p:nvPicPr>
        <p:blipFill>
          <a:blip r:embed="rId1"/>
          <a:stretch/>
        </p:blipFill>
        <p:spPr>
          <a:xfrm>
            <a:off x="6217920" y="1994040"/>
            <a:ext cx="4221000" cy="2760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Software Defined </a:t>
            </a: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42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BladeRF 2.0 </a:t>
            </a: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Micro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43" name="" descr=""/>
          <p:cNvPicPr/>
          <p:nvPr/>
        </p:nvPicPr>
        <p:blipFill>
          <a:blip r:embed="rId1"/>
          <a:stretch/>
        </p:blipFill>
        <p:spPr>
          <a:xfrm>
            <a:off x="640080" y="1733760"/>
            <a:ext cx="5610960" cy="3752640"/>
          </a:xfrm>
          <a:prstGeom prst="rect">
            <a:avLst/>
          </a:prstGeom>
          <a:ln>
            <a:noFill/>
          </a:ln>
        </p:spPr>
      </p:pic>
      <p:graphicFrame>
        <p:nvGraphicFramePr>
          <p:cNvPr id="444" name="Table 3"/>
          <p:cNvGraphicFramePr/>
          <p:nvPr/>
        </p:nvGraphicFramePr>
        <p:xfrm>
          <a:off x="7169760" y="2167200"/>
          <a:ext cx="3852720" cy="2770560"/>
        </p:xfrm>
        <a:graphic>
          <a:graphicData uri="http://schemas.openxmlformats.org/drawingml/2006/table">
            <a:tbl>
              <a:tblPr/>
              <a:tblGrid>
                <a:gridCol w="1926000"/>
                <a:gridCol w="1927080"/>
              </a:tblGrid>
              <a:tr h="3081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Spec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Value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106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ADC/DAC Sample Rate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61.44 MHz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5600"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Max IBW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56 MHz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59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RF Tuning </a:t>
                      </a:r>
                      <a:r>
                        <a:rPr b="0" lang="en-US" sz="1200" spc="-1" strike="noStrike">
                          <a:latin typeface="Times New Roman"/>
                        </a:rPr>
                        <a:t>Range (TX)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47 MHz to 6 </a:t>
                      </a:r>
                      <a:r>
                        <a:rPr b="0" lang="en-US" sz="1200" spc="-1" strike="noStrike">
                          <a:latin typeface="Times New Roman"/>
                        </a:rPr>
                        <a:t>GHz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7200"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RF Tuning Range </a:t>
                      </a:r>
                      <a:r>
                        <a:rPr b="0" lang="en-US" sz="1200" spc="-1" strike="noStrike">
                          <a:latin typeface="Times New Roman"/>
                        </a:rPr>
                        <a:t>(RX)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70 MHz to 6 </a:t>
                      </a:r>
                      <a:r>
                        <a:rPr b="0" lang="en-US" sz="1200" spc="-1" strike="noStrike">
                          <a:latin typeface="Times New Roman"/>
                        </a:rPr>
                        <a:t>GHz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13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CW Output </a:t>
                      </a:r>
                      <a:r>
                        <a:rPr b="0" lang="en-US" sz="1200" spc="-1" strike="noStrike">
                          <a:latin typeface="Times New Roman"/>
                        </a:rPr>
                        <a:t>Power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Around 8 dBm </a:t>
                      </a:r>
                      <a:r>
                        <a:rPr b="0" lang="en-US" sz="1200" spc="-1" strike="noStrike">
                          <a:latin typeface="Times New Roman"/>
                        </a:rPr>
                        <a:t>(6.3 mW)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86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Dimensions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6.3 x 10.2 x 1.8 </a:t>
                      </a:r>
                      <a:r>
                        <a:rPr b="0" lang="en-US" sz="1200" spc="-1" strike="noStrike">
                          <a:latin typeface="Times New Roman"/>
                        </a:rPr>
                        <a:t>cm^3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72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Weight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90 g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1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Host </a:t>
                      </a:r>
                      <a:r>
                        <a:rPr b="0" lang="en-US" sz="1200" spc="-1" strike="noStrike">
                          <a:latin typeface="Arial"/>
                        </a:rPr>
                        <a:t>communication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USB 3.0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445" name="TextShape 4"/>
          <p:cNvSpPr txBox="1"/>
          <p:nvPr/>
        </p:nvSpPr>
        <p:spPr>
          <a:xfrm>
            <a:off x="8686800" y="5140080"/>
            <a:ext cx="73152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solidFill>
                  <a:srgbClr val="81d41a"/>
                </a:solidFill>
                <a:latin typeface="Arial"/>
              </a:rPr>
              <a:t>$540</a:t>
            </a:r>
            <a:endParaRPr b="0" lang="en-US" sz="1800" spc="-1" strike="noStrike">
              <a:solidFill>
                <a:srgbClr val="81d41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47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Challenge 1: Radar Range Resolution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48" name="" descr=""/>
          <p:cNvPicPr/>
          <p:nvPr/>
        </p:nvPicPr>
        <p:blipFill>
          <a:blip r:embed="rId1"/>
          <a:stretch/>
        </p:blipFill>
        <p:spPr>
          <a:xfrm>
            <a:off x="1005840" y="1737360"/>
            <a:ext cx="3785760" cy="1474920"/>
          </a:xfrm>
          <a:prstGeom prst="rect">
            <a:avLst/>
          </a:prstGeom>
          <a:ln>
            <a:noFill/>
          </a:ln>
        </p:spPr>
      </p:pic>
      <p:sp>
        <p:nvSpPr>
          <p:cNvPr id="449" name="CustomShape 3"/>
          <p:cNvSpPr/>
          <p:nvPr/>
        </p:nvSpPr>
        <p:spPr>
          <a:xfrm>
            <a:off x="731520" y="3017520"/>
            <a:ext cx="5463720" cy="320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marL="228600" indent="-22716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Shorter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pulse→Larger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bandwidth→Fin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er  resolution</a:t>
            </a:r>
            <a:endParaRPr b="0" lang="en-US" sz="1600" spc="-1" strike="noStrike">
              <a:latin typeface="Arial"/>
            </a:endParaRPr>
          </a:p>
          <a:p>
            <a:pPr marL="228600" indent="-22716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Range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Resolution =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Speed of Light /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(2*Bandwidth)</a:t>
            </a:r>
            <a:endParaRPr b="0" lang="en-US" sz="1600" spc="-1" strike="noStrike"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c9211e"/>
                </a:solidFill>
                <a:latin typeface="Arial"/>
                <a:ea typeface="DejaVu Sans"/>
              </a:rPr>
              <a:t>2 GHz → </a:t>
            </a:r>
            <a:r>
              <a:rPr b="1" lang="en-US" sz="1500" spc="-1" strike="noStrike">
                <a:solidFill>
                  <a:srgbClr val="c9211e"/>
                </a:solidFill>
                <a:latin typeface="Arial"/>
                <a:ea typeface="DejaVu Sans"/>
              </a:rPr>
              <a:t>0.075m</a:t>
            </a:r>
            <a:endParaRPr b="0" lang="en-US" sz="1500" spc="-1" strike="noStrike"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c9211e"/>
                </a:solidFill>
                <a:latin typeface="Arial"/>
                <a:ea typeface="DejaVu Sans"/>
              </a:rPr>
              <a:t>1 GHz → </a:t>
            </a:r>
            <a:r>
              <a:rPr b="1" lang="en-US" sz="1500" spc="-1" strike="noStrike">
                <a:solidFill>
                  <a:srgbClr val="c9211e"/>
                </a:solidFill>
                <a:latin typeface="Arial"/>
                <a:ea typeface="DejaVu Sans"/>
              </a:rPr>
              <a:t>0.15m</a:t>
            </a:r>
            <a:endParaRPr b="0" lang="en-US" sz="1500" spc="-1" strike="noStrike"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a933"/>
                </a:solidFill>
                <a:latin typeface="Arial"/>
                <a:ea typeface="DejaVu Sans"/>
              </a:rPr>
              <a:t>56 MHz → </a:t>
            </a:r>
            <a:r>
              <a:rPr b="1" lang="en-US" sz="1500" spc="-1" strike="noStrike">
                <a:solidFill>
                  <a:srgbClr val="00a933"/>
                </a:solidFill>
                <a:latin typeface="Arial"/>
                <a:ea typeface="DejaVu Sans"/>
              </a:rPr>
              <a:t>2.73m</a:t>
            </a:r>
            <a:endParaRPr b="0" lang="en-US" sz="1500" spc="-1" strike="noStrike"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pc="-1" strike="noStrike">
                <a:solidFill>
                  <a:srgbClr val="00a933"/>
                </a:solidFill>
                <a:latin typeface="Arial"/>
                <a:ea typeface="DejaVu Sans"/>
              </a:rPr>
              <a:t>10 MHz → </a:t>
            </a:r>
            <a:r>
              <a:rPr b="1" lang="en-US" sz="1500" spc="-1" strike="noStrike">
                <a:solidFill>
                  <a:srgbClr val="00a933"/>
                </a:solidFill>
                <a:latin typeface="Arial"/>
                <a:ea typeface="DejaVu Sans"/>
              </a:rPr>
              <a:t>15m</a:t>
            </a:r>
            <a:endParaRPr b="0" lang="en-US" sz="1500" spc="-1" strike="noStrike">
              <a:latin typeface="Arial"/>
            </a:endParaRPr>
          </a:p>
        </p:txBody>
      </p:sp>
      <p:graphicFrame>
        <p:nvGraphicFramePr>
          <p:cNvPr id="450" name="Table 4"/>
          <p:cNvGraphicFramePr/>
          <p:nvPr/>
        </p:nvGraphicFramePr>
        <p:xfrm>
          <a:off x="6292080" y="923400"/>
          <a:ext cx="4626720" cy="1558440"/>
        </p:xfrm>
        <a:graphic>
          <a:graphicData uri="http://schemas.openxmlformats.org/drawingml/2006/table">
            <a:tbl>
              <a:tblPr/>
              <a:tblGrid>
                <a:gridCol w="1542240"/>
                <a:gridCol w="1542240"/>
                <a:gridCol w="1542240"/>
              </a:tblGrid>
              <a:tr h="49356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latin typeface="Arial"/>
                        </a:rPr>
                        <a:t>Type of </a:t>
                      </a:r>
                      <a:r>
                        <a:rPr b="0" lang="en-US" sz="1400" spc="-1" strike="noStrike">
                          <a:latin typeface="Arial"/>
                        </a:rPr>
                        <a:t>Radar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latin typeface="Arial"/>
                        </a:rPr>
                        <a:t>Output </a:t>
                      </a:r>
                      <a:r>
                        <a:rPr b="0" lang="en-US" sz="1400" spc="-1" strike="noStrike">
                          <a:latin typeface="Arial"/>
                        </a:rPr>
                        <a:t>Power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Instantaneou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r>
                        <a:rPr b="0" lang="en-US" sz="1400" spc="-1" strike="noStrike">
                          <a:latin typeface="Arial"/>
                        </a:rPr>
                        <a:t>Bandwidth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632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latin typeface="Arial"/>
                        </a:rPr>
                        <a:t>Pulsed </a:t>
                      </a:r>
                      <a:r>
                        <a:rPr b="0" lang="en-US" sz="1400" spc="-1" strike="noStrike">
                          <a:latin typeface="Arial"/>
                        </a:rPr>
                        <a:t>Radar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c9211e"/>
                          </a:solidFill>
                          <a:latin typeface="Arial"/>
                        </a:rPr>
                        <a:t>High</a:t>
                      </a:r>
                      <a:endParaRPr b="0" lang="en-US" sz="14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c9211e"/>
                          </a:solidFill>
                          <a:latin typeface="Arial"/>
                        </a:rPr>
                        <a:t>Wide</a:t>
                      </a:r>
                      <a:endParaRPr b="0" lang="en-US" sz="14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272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latin typeface="Arial"/>
                        </a:rPr>
                        <a:t>FMCW Radar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a933"/>
                          </a:solidFill>
                          <a:latin typeface="Arial"/>
                        </a:rPr>
                        <a:t>Low</a:t>
                      </a:r>
                      <a:endParaRPr b="0" lang="en-US" sz="1400" spc="-1" strike="noStrike">
                        <a:solidFill>
                          <a:srgbClr val="00a933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c9211e"/>
                          </a:solidFill>
                          <a:latin typeface="Arial"/>
                        </a:rPr>
                        <a:t>Wide</a:t>
                      </a:r>
                      <a:endParaRPr b="0" lang="en-US" sz="14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5928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latin typeface="Arial"/>
                        </a:rPr>
                        <a:t>SFCW Radar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a933"/>
                          </a:solidFill>
                          <a:latin typeface="Arial"/>
                        </a:rPr>
                        <a:t>Low</a:t>
                      </a:r>
                      <a:endParaRPr b="0" lang="en-US" sz="1400" spc="-1" strike="noStrike">
                        <a:solidFill>
                          <a:srgbClr val="00a933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a933"/>
                          </a:solidFill>
                          <a:latin typeface="Arial"/>
                        </a:rPr>
                        <a:t>Narrow</a:t>
                      </a:r>
                      <a:endParaRPr b="0" lang="en-US" sz="1400" spc="-1" strike="noStrike">
                        <a:solidFill>
                          <a:srgbClr val="00a933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pic>
        <p:nvPicPr>
          <p:cNvPr id="451" name="" descr=""/>
          <p:cNvPicPr/>
          <p:nvPr/>
        </p:nvPicPr>
        <p:blipFill>
          <a:blip r:embed="rId2"/>
          <a:stretch/>
        </p:blipFill>
        <p:spPr>
          <a:xfrm>
            <a:off x="6126480" y="2600640"/>
            <a:ext cx="4937760" cy="3383280"/>
          </a:xfrm>
          <a:prstGeom prst="rect">
            <a:avLst/>
          </a:prstGeom>
          <a:ln>
            <a:noFill/>
          </a:ln>
        </p:spPr>
      </p:pic>
      <p:sp>
        <p:nvSpPr>
          <p:cNvPr id="452" name="CustomShape 5"/>
          <p:cNvSpPr/>
          <p:nvPr/>
        </p:nvSpPr>
        <p:spPr>
          <a:xfrm>
            <a:off x="6035040" y="5911920"/>
            <a:ext cx="5212080" cy="48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SFCW radar: a) waveform, b) frequencies and c) spectrogram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</a:t>
            </a: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54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SFCW </a:t>
            </a: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Radar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1"/>
          <a:stretch/>
        </p:blipFill>
        <p:spPr>
          <a:xfrm>
            <a:off x="1554480" y="1284480"/>
            <a:ext cx="8380800" cy="2464560"/>
          </a:xfrm>
          <a:prstGeom prst="rect">
            <a:avLst/>
          </a:prstGeom>
          <a:ln>
            <a:noFill/>
          </a:ln>
        </p:spPr>
      </p:pic>
      <p:sp>
        <p:nvSpPr>
          <p:cNvPr id="456" name="CustomShape 3"/>
          <p:cNvSpPr/>
          <p:nvPr/>
        </p:nvSpPr>
        <p:spPr>
          <a:xfrm>
            <a:off x="2468880" y="4114800"/>
            <a:ext cx="7045920" cy="192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marL="228600" indent="-22716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Transmit pulse and receive echo at each frequency step</a:t>
            </a:r>
            <a:endParaRPr b="0" lang="en-US" sz="1600" spc="-1" strike="noStrike">
              <a:latin typeface="Arial"/>
            </a:endParaRPr>
          </a:p>
          <a:p>
            <a:pPr marL="228600" indent="-22716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Calculate channel responses for each frequency step</a:t>
            </a:r>
            <a:endParaRPr b="0" lang="en-US" sz="1600" spc="-1" strike="noStrike">
              <a:latin typeface="Arial"/>
            </a:endParaRPr>
          </a:p>
          <a:p>
            <a:pPr marL="228600" indent="-22716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Coherently process the collected channel responses to get range profile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58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Challenge 2: None-coherent TX/RX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59" name="" descr=""/>
          <p:cNvPicPr/>
          <p:nvPr/>
        </p:nvPicPr>
        <p:blipFill>
          <a:blip r:embed="rId1"/>
          <a:stretch/>
        </p:blipFill>
        <p:spPr>
          <a:xfrm>
            <a:off x="1278360" y="1097280"/>
            <a:ext cx="9328680" cy="4490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61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 MIMO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62" name="" descr=""/>
          <p:cNvPicPr/>
          <p:nvPr/>
        </p:nvPicPr>
        <p:blipFill>
          <a:blip r:embed="rId1"/>
          <a:stretch/>
        </p:blipFill>
        <p:spPr>
          <a:xfrm>
            <a:off x="120960" y="1110960"/>
            <a:ext cx="10372320" cy="4466880"/>
          </a:xfrm>
          <a:prstGeom prst="rect">
            <a:avLst/>
          </a:prstGeom>
          <a:ln>
            <a:noFill/>
          </a:ln>
        </p:spPr>
      </p:pic>
      <p:pic>
        <p:nvPicPr>
          <p:cNvPr id="463" name="" descr=""/>
          <p:cNvPicPr/>
          <p:nvPr/>
        </p:nvPicPr>
        <p:blipFill>
          <a:blip r:embed="rId2"/>
          <a:stretch/>
        </p:blipFill>
        <p:spPr>
          <a:xfrm>
            <a:off x="7002000" y="3383280"/>
            <a:ext cx="4456800" cy="2194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</a:t>
            </a: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65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Challenge 3: Internal Coupling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6" name="CustomShape 3"/>
          <p:cNvSpPr/>
          <p:nvPr/>
        </p:nvSpPr>
        <p:spPr>
          <a:xfrm>
            <a:off x="1920240" y="2011680"/>
            <a:ext cx="8298360" cy="256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received signal from RX channels is the sum of radar echos, a copy of TX signals and noise due to internal circuit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Internal coupling won’t hurt much for communication purpose but introduce strong phase noise for radar application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 calibration method was proposed to reduce the impact of internal coupling (See the upcoming paper)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method reduces the SCR from -7db to -14db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CustomShape 1"/>
          <p:cNvSpPr/>
          <p:nvPr/>
        </p:nvSpPr>
        <p:spPr>
          <a:xfrm>
            <a:off x="543600" y="151200"/>
            <a:ext cx="487224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High Range Resolution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68" name="CustomShape 2"/>
          <p:cNvSpPr/>
          <p:nvPr/>
        </p:nvSpPr>
        <p:spPr>
          <a:xfrm>
            <a:off x="544680" y="427680"/>
            <a:ext cx="11361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Results: A Low-cost Software Defined Radar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9" name="CustomShape 3"/>
          <p:cNvSpPr/>
          <p:nvPr/>
        </p:nvSpPr>
        <p:spPr>
          <a:xfrm>
            <a:off x="3749040" y="1554480"/>
            <a:ext cx="5097960" cy="393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Real time re-configurable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Real time re-configurable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Build in single tone and chirp waveform, support user defined waveform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Minimum range resolution: 3 cm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Noise floor: -70 db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Detection range: 30 meter for door size objects</a:t>
            </a:r>
            <a:endParaRPr b="0" lang="en-US" sz="1600" spc="-1" strike="noStrike"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1 GHz effective bandwidth</a:t>
            </a:r>
            <a:endParaRPr b="0" lang="en-US" sz="1600" spc="-1" strike="noStrike"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Central frequency 2.4 GHz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Penetrating capability: 0.5 meter </a:t>
            </a:r>
            <a:endParaRPr b="0" lang="en-US" sz="1600" spc="-1" strike="noStrike"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Dry sands</a:t>
            </a:r>
            <a:endParaRPr b="0" lang="en-US" sz="1600" spc="-1" strike="noStrike"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20 cm x 20 cm reflection surface</a:t>
            </a:r>
            <a:endParaRPr b="0" lang="en-US" sz="1600" spc="-1" strike="noStrike"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1 GHz to 2 GHz bandwidth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544680" y="427680"/>
            <a:ext cx="11360520" cy="47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71" name="Table 2"/>
          <p:cNvGraphicFramePr/>
          <p:nvPr/>
        </p:nvGraphicFramePr>
        <p:xfrm>
          <a:off x="426960" y="1264680"/>
          <a:ext cx="11361960" cy="4689360"/>
        </p:xfrm>
        <a:graphic>
          <a:graphicData uri="http://schemas.openxmlformats.org/drawingml/2006/table">
            <a:tbl>
              <a:tblPr/>
              <a:tblGrid>
                <a:gridCol w="2840400"/>
                <a:gridCol w="1012680"/>
                <a:gridCol w="1971720"/>
                <a:gridCol w="553752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Components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 price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Spec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540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Software defined radio with 2x2 MIMO channels. 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47MHz to 6GHz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Max sampling rate: 61.44MHz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BT-100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Power amplifier (TX)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+15.6 dB at 200 MHz, +10.7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BT-200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Low noise amplifier (RX)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+20.2 db at 200 MHz, +16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2.0 micro case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PolyCarbonate case for the 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21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RFSpace TSA600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74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UWB tapered slot antenna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600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Gain: 7 to 11 dBi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ZFDC-20-50-S+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97.53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Directional Coupler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20 MHz to 2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Coupling Factor: 19.5 +/- 0.5 dB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BECEN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11.5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-20 dB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56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SMA cables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8.5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Male to male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cm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472" name="CustomShape 3"/>
          <p:cNvSpPr/>
          <p:nvPr/>
        </p:nvSpPr>
        <p:spPr>
          <a:xfrm>
            <a:off x="543600" y="915840"/>
            <a:ext cx="11360520" cy="32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BoM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3" name="CustomShape 4"/>
          <p:cNvSpPr/>
          <p:nvPr/>
        </p:nvSpPr>
        <p:spPr>
          <a:xfrm>
            <a:off x="543600" y="151200"/>
            <a:ext cx="4871520" cy="22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ustomShape 1"/>
          <p:cNvSpPr/>
          <p:nvPr/>
        </p:nvSpPr>
        <p:spPr>
          <a:xfrm>
            <a:off x="544680" y="427680"/>
            <a:ext cx="11360520" cy="47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Software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75" name="CustomShape 2"/>
          <p:cNvSpPr/>
          <p:nvPr/>
        </p:nvSpPr>
        <p:spPr>
          <a:xfrm>
            <a:off x="543600" y="151200"/>
            <a:ext cx="4871520" cy="22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76" name="CustomShape 3"/>
          <p:cNvSpPr/>
          <p:nvPr/>
        </p:nvSpPr>
        <p:spPr>
          <a:xfrm>
            <a:off x="543600" y="916200"/>
            <a:ext cx="11360520" cy="32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List of Dependencies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7" name="CustomShape 4"/>
          <p:cNvSpPr/>
          <p:nvPr/>
        </p:nvSpPr>
        <p:spPr>
          <a:xfrm>
            <a:off x="548640" y="1828800"/>
            <a:ext cx="11360520" cy="32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Software components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graphicFrame>
        <p:nvGraphicFramePr>
          <p:cNvPr id="478" name="Table 5"/>
          <p:cNvGraphicFramePr/>
          <p:nvPr/>
        </p:nvGraphicFramePr>
        <p:xfrm>
          <a:off x="591480" y="2232360"/>
          <a:ext cx="11025720" cy="2715120"/>
        </p:xfrm>
        <a:graphic>
          <a:graphicData uri="http://schemas.openxmlformats.org/drawingml/2006/table">
            <a:tbl>
              <a:tblPr/>
              <a:tblGrid>
                <a:gridCol w="1543320"/>
                <a:gridCol w="986040"/>
                <a:gridCol w="1003320"/>
                <a:gridCol w="1394640"/>
                <a:gridCol w="6098760"/>
              </a:tblGrid>
              <a:tr h="331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Module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Language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DIR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Functions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299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bladerf_device.cc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c++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lib/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Base class to control bladeRF to transmit pulse and receive echo signals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946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sfcw_radar_mimo_cc_impl.cc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c++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lib/ 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Sfcw radar implementation using the second TX channel for reference signals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946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sfcw_radar_miso_cc_impl.cc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c++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lib/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Sfcw radar implementation using direction coupler for reference signals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99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RawSamplesSink.py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python/sfcwRadar/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Record raw radar echos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99880"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rangeProfileSink.</a:t>
                      </a:r>
                      <a:r>
                        <a:rPr b="0" lang="en-US" sz="1200" spc="-1" strike="noStrike">
                          <a:latin typeface="Times New Roman"/>
                        </a:rPr>
                        <a:t>py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python/</a:t>
                      </a:r>
                      <a:r>
                        <a:rPr b="0" lang="en-US" sz="1200" spc="-1" strike="noStrike">
                          <a:latin typeface="Times New Roman"/>
                        </a:rPr>
                        <a:t>sfcwRadar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Record range </a:t>
                      </a:r>
                      <a:r>
                        <a:rPr b="0" lang="en-US" sz="1200" spc="-1" strike="noStrike">
                          <a:latin typeface="Times New Roman"/>
                        </a:rPr>
                        <a:t>profile and send </a:t>
                      </a:r>
                      <a:r>
                        <a:rPr b="0" lang="en-US" sz="1200" spc="-1" strike="noStrike">
                          <a:latin typeface="Times New Roman"/>
                        </a:rPr>
                        <a:t>to the remote </a:t>
                      </a:r>
                      <a:r>
                        <a:rPr b="0" lang="en-US" sz="1200" spc="-1" strike="noStrike">
                          <a:latin typeface="Times New Roman"/>
                        </a:rPr>
                        <a:t>server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01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ClutterRemover.py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script/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Remove ground clutter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01320"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MatchedFilter.py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python/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sfcwRadar/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Matched filter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implementation to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extract channel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response when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using chirp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waveform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01320"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Calibration.py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python/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sfcwRadar/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Calibration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algorithm to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address the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internal coupling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01320"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200" spc="-1" strike="noStrike">
                          <a:latin typeface="Times New Roman"/>
                        </a:rPr>
                        <a:t>GetRangeProfile.py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script/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Signal processing pipeline from radar echos to range profile (A-scan)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932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sfcwRadarGui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python+grc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gui/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The graph user interface of the ground penetrating radar. Use it for data collection or onsite survey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9" name="Table 6"/>
          <p:cNvGraphicFramePr/>
          <p:nvPr/>
        </p:nvGraphicFramePr>
        <p:xfrm>
          <a:off x="2863800" y="530640"/>
          <a:ext cx="3532320" cy="1970640"/>
        </p:xfrm>
        <a:graphic>
          <a:graphicData uri="http://schemas.openxmlformats.org/drawingml/2006/table">
            <a:tbl>
              <a:tblPr/>
              <a:tblGrid>
                <a:gridCol w="1268280"/>
                <a:gridCol w="994320"/>
                <a:gridCol w="127008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Library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Version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Licensing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libbladeRF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2.5.0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LGPLv2.1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86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GNURadio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3.10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GPLv3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822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volk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2.4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GPLv3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Table 7"/>
          <p:cNvGraphicFramePr/>
          <p:nvPr/>
        </p:nvGraphicFramePr>
        <p:xfrm>
          <a:off x="6914160" y="523800"/>
          <a:ext cx="11025720" cy="1970640"/>
        </p:xfrm>
        <a:graphic>
          <a:graphicData uri="http://schemas.openxmlformats.org/drawingml/2006/table">
            <a:tbl>
              <a:tblPr/>
              <a:tblGrid>
                <a:gridCol w="1268280"/>
                <a:gridCol w="994320"/>
                <a:gridCol w="127008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Library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Version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Licensing</a:t>
                      </a:r>
                      <a:endParaRPr b="0" lang="en-US" sz="14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Python3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3.11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PSF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numpy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1.17.4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MIT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scipy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1.3.3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MIT</a:t>
                      </a:r>
                      <a:endParaRPr b="0" lang="en-US" sz="1200" spc="-1" strike="noStrike">
                        <a:latin typeface="Times New Roman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CustomShape 1"/>
          <p:cNvSpPr/>
          <p:nvPr/>
        </p:nvSpPr>
        <p:spPr>
          <a:xfrm>
            <a:off x="544680" y="427680"/>
            <a:ext cx="11360520" cy="47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A-scan and B-scan example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82" name="CustomShape 2"/>
          <p:cNvSpPr/>
          <p:nvPr/>
        </p:nvSpPr>
        <p:spPr>
          <a:xfrm>
            <a:off x="543600" y="151200"/>
            <a:ext cx="4871520" cy="22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483" name="" descr=""/>
          <p:cNvPicPr/>
          <p:nvPr/>
        </p:nvPicPr>
        <p:blipFill>
          <a:blip r:embed="rId1"/>
          <a:stretch/>
        </p:blipFill>
        <p:spPr>
          <a:xfrm>
            <a:off x="1206720" y="1246680"/>
            <a:ext cx="9856800" cy="4970520"/>
          </a:xfrm>
          <a:prstGeom prst="rect">
            <a:avLst/>
          </a:prstGeom>
          <a:ln>
            <a:noFill/>
          </a:ln>
        </p:spPr>
      </p:pic>
      <p:sp>
        <p:nvSpPr>
          <p:cNvPr id="484" name="CustomShape 3"/>
          <p:cNvSpPr/>
          <p:nvPr/>
        </p:nvSpPr>
        <p:spPr>
          <a:xfrm>
            <a:off x="1737360" y="4297680"/>
            <a:ext cx="1005120" cy="43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  <a:ea typeface="DejaVu Sans"/>
              </a:rPr>
              <a:t>Metal plate echo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5" name="CustomShape 4"/>
          <p:cNvSpPr/>
          <p:nvPr/>
        </p:nvSpPr>
        <p:spPr>
          <a:xfrm>
            <a:off x="2651760" y="4725360"/>
            <a:ext cx="1005120" cy="43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  <a:ea typeface="DejaVu Sans"/>
              </a:rPr>
              <a:t>Ceiling echo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6" name="CustomShape 5"/>
          <p:cNvSpPr/>
          <p:nvPr/>
        </p:nvSpPr>
        <p:spPr>
          <a:xfrm>
            <a:off x="5943600" y="5029200"/>
            <a:ext cx="164520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  <a:ea typeface="DejaVu Sans"/>
              </a:rPr>
              <a:t>a metal plate moving back and forth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7" name="CustomShape 6"/>
          <p:cNvSpPr/>
          <p:nvPr/>
        </p:nvSpPr>
        <p:spPr>
          <a:xfrm>
            <a:off x="7589520" y="4114800"/>
            <a:ext cx="10965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  <a:ea typeface="DejaVu Sans"/>
              </a:rPr>
              <a:t>Ceiling echo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8" name="CustomShape 7"/>
          <p:cNvSpPr/>
          <p:nvPr/>
        </p:nvSpPr>
        <p:spPr>
          <a:xfrm rot="10806000">
            <a:off x="7315920" y="4207320"/>
            <a:ext cx="365040" cy="90720"/>
          </a:xfrm>
          <a:custGeom>
            <a:avLst/>
            <a:gdLst/>
            <a:ahLst/>
            <a:rect l="l" t="t" r="r" b="b"/>
            <a:pathLst>
              <a:path w="1018" h="256">
                <a:moveTo>
                  <a:pt x="0" y="63"/>
                </a:moveTo>
                <a:lnTo>
                  <a:pt x="762" y="63"/>
                </a:lnTo>
                <a:lnTo>
                  <a:pt x="762" y="0"/>
                </a:lnTo>
                <a:lnTo>
                  <a:pt x="1017" y="127"/>
                </a:lnTo>
                <a:lnTo>
                  <a:pt x="763" y="255"/>
                </a:lnTo>
                <a:lnTo>
                  <a:pt x="763" y="191"/>
                </a:lnTo>
                <a:lnTo>
                  <a:pt x="1" y="191"/>
                </a:lnTo>
                <a:lnTo>
                  <a:pt x="0" y="63"/>
                </a:lnTo>
              </a:path>
            </a:pathLst>
          </a:custGeom>
          <a:solidFill>
            <a:srgbClr val="bf0041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CustomShape 8"/>
          <p:cNvSpPr/>
          <p:nvPr/>
        </p:nvSpPr>
        <p:spPr>
          <a:xfrm rot="16728000">
            <a:off x="6419160" y="4674600"/>
            <a:ext cx="365040" cy="90720"/>
          </a:xfrm>
          <a:custGeom>
            <a:avLst/>
            <a:gdLst/>
            <a:ahLst/>
            <a:rect l="l" t="t" r="r" b="b"/>
            <a:pathLst>
              <a:path w="1018" h="256">
                <a:moveTo>
                  <a:pt x="0" y="64"/>
                </a:moveTo>
                <a:lnTo>
                  <a:pt x="762" y="64"/>
                </a:lnTo>
                <a:lnTo>
                  <a:pt x="761" y="0"/>
                </a:lnTo>
                <a:lnTo>
                  <a:pt x="1017" y="128"/>
                </a:lnTo>
                <a:lnTo>
                  <a:pt x="761" y="255"/>
                </a:lnTo>
                <a:lnTo>
                  <a:pt x="762" y="192"/>
                </a:lnTo>
                <a:lnTo>
                  <a:pt x="0" y="192"/>
                </a:lnTo>
                <a:lnTo>
                  <a:pt x="0" y="64"/>
                </a:lnTo>
              </a:path>
            </a:pathLst>
          </a:custGeom>
          <a:solidFill>
            <a:srgbClr val="bf0041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CustomShape 9"/>
          <p:cNvSpPr/>
          <p:nvPr/>
        </p:nvSpPr>
        <p:spPr>
          <a:xfrm rot="10789800">
            <a:off x="1737360" y="5612760"/>
            <a:ext cx="456480" cy="92160"/>
          </a:xfrm>
          <a:custGeom>
            <a:avLst/>
            <a:gdLst/>
            <a:ahLst/>
            <a:rect l="l" t="t" r="r" b="b"/>
            <a:pathLst>
              <a:path w="1272" h="260">
                <a:moveTo>
                  <a:pt x="1" y="65"/>
                </a:moveTo>
                <a:lnTo>
                  <a:pt x="954" y="64"/>
                </a:lnTo>
                <a:lnTo>
                  <a:pt x="954" y="0"/>
                </a:lnTo>
                <a:lnTo>
                  <a:pt x="1271" y="129"/>
                </a:lnTo>
                <a:lnTo>
                  <a:pt x="953" y="259"/>
                </a:lnTo>
                <a:lnTo>
                  <a:pt x="953" y="194"/>
                </a:lnTo>
                <a:lnTo>
                  <a:pt x="0" y="195"/>
                </a:lnTo>
                <a:lnTo>
                  <a:pt x="1" y="65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CustomShape 10"/>
          <p:cNvSpPr/>
          <p:nvPr/>
        </p:nvSpPr>
        <p:spPr>
          <a:xfrm>
            <a:off x="2194560" y="5522400"/>
            <a:ext cx="13708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Close to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2" name="CustomShape 11"/>
          <p:cNvSpPr/>
          <p:nvPr/>
        </p:nvSpPr>
        <p:spPr>
          <a:xfrm>
            <a:off x="5156640" y="5612040"/>
            <a:ext cx="456480" cy="90720"/>
          </a:xfrm>
          <a:custGeom>
            <a:avLst/>
            <a:gdLst/>
            <a:ahLst/>
            <a:rect l="l" t="t" r="r" b="b"/>
            <a:pathLst>
              <a:path w="1272" h="256">
                <a:moveTo>
                  <a:pt x="0" y="63"/>
                </a:moveTo>
                <a:lnTo>
                  <a:pt x="953" y="63"/>
                </a:lnTo>
                <a:lnTo>
                  <a:pt x="953" y="0"/>
                </a:lnTo>
                <a:lnTo>
                  <a:pt x="1271" y="127"/>
                </a:lnTo>
                <a:lnTo>
                  <a:pt x="953" y="255"/>
                </a:lnTo>
                <a:lnTo>
                  <a:pt x="953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CustomShape 12"/>
          <p:cNvSpPr/>
          <p:nvPr/>
        </p:nvSpPr>
        <p:spPr>
          <a:xfrm>
            <a:off x="3948480" y="5522400"/>
            <a:ext cx="13708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Away from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4" name="CustomShape 13"/>
          <p:cNvSpPr/>
          <p:nvPr/>
        </p:nvSpPr>
        <p:spPr>
          <a:xfrm rot="10789800">
            <a:off x="6309000" y="5666760"/>
            <a:ext cx="456480" cy="92160"/>
          </a:xfrm>
          <a:custGeom>
            <a:avLst/>
            <a:gdLst/>
            <a:ahLst/>
            <a:rect l="l" t="t" r="r" b="b"/>
            <a:pathLst>
              <a:path w="1272" h="260">
                <a:moveTo>
                  <a:pt x="0" y="65"/>
                </a:moveTo>
                <a:lnTo>
                  <a:pt x="953" y="64"/>
                </a:lnTo>
                <a:lnTo>
                  <a:pt x="953" y="0"/>
                </a:lnTo>
                <a:lnTo>
                  <a:pt x="1271" y="128"/>
                </a:lnTo>
                <a:lnTo>
                  <a:pt x="953" y="259"/>
                </a:lnTo>
                <a:lnTo>
                  <a:pt x="953" y="194"/>
                </a:lnTo>
                <a:lnTo>
                  <a:pt x="0" y="195"/>
                </a:lnTo>
                <a:lnTo>
                  <a:pt x="0" y="65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CustomShape 14"/>
          <p:cNvSpPr/>
          <p:nvPr/>
        </p:nvSpPr>
        <p:spPr>
          <a:xfrm>
            <a:off x="6766560" y="5577840"/>
            <a:ext cx="13708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Close to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6" name="CustomShape 15"/>
          <p:cNvSpPr/>
          <p:nvPr/>
        </p:nvSpPr>
        <p:spPr>
          <a:xfrm>
            <a:off x="10058400" y="5669280"/>
            <a:ext cx="456480" cy="90720"/>
          </a:xfrm>
          <a:custGeom>
            <a:avLst/>
            <a:gdLst/>
            <a:ahLst/>
            <a:rect l="l" t="t" r="r" b="b"/>
            <a:pathLst>
              <a:path w="1272" h="256">
                <a:moveTo>
                  <a:pt x="0" y="63"/>
                </a:moveTo>
                <a:lnTo>
                  <a:pt x="953" y="63"/>
                </a:lnTo>
                <a:lnTo>
                  <a:pt x="953" y="0"/>
                </a:lnTo>
                <a:lnTo>
                  <a:pt x="1271" y="127"/>
                </a:lnTo>
                <a:lnTo>
                  <a:pt x="953" y="255"/>
                </a:lnTo>
                <a:lnTo>
                  <a:pt x="953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CustomShape 16"/>
          <p:cNvSpPr/>
          <p:nvPr/>
        </p:nvSpPr>
        <p:spPr>
          <a:xfrm>
            <a:off x="8778240" y="5577840"/>
            <a:ext cx="13708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Away from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8" name="CustomShape 17"/>
          <p:cNvSpPr/>
          <p:nvPr/>
        </p:nvSpPr>
        <p:spPr>
          <a:xfrm>
            <a:off x="4023360" y="6231240"/>
            <a:ext cx="1279440" cy="60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Click this button to scan just once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9" name="CustomShape 18"/>
          <p:cNvSpPr/>
          <p:nvPr/>
        </p:nvSpPr>
        <p:spPr>
          <a:xfrm>
            <a:off x="6838560" y="6231240"/>
            <a:ext cx="1553760" cy="26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Scan contentiously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0" name="CustomShape 19"/>
          <p:cNvSpPr/>
          <p:nvPr/>
        </p:nvSpPr>
        <p:spPr>
          <a:xfrm rot="19002600">
            <a:off x="4591080" y="6048000"/>
            <a:ext cx="487440" cy="90720"/>
          </a:xfrm>
          <a:custGeom>
            <a:avLst/>
            <a:gdLst/>
            <a:ahLst/>
            <a:rect l="l" t="t" r="r" b="b"/>
            <a:pathLst>
              <a:path w="1358" h="256">
                <a:moveTo>
                  <a:pt x="1" y="64"/>
                </a:moveTo>
                <a:lnTo>
                  <a:pt x="1017" y="63"/>
                </a:lnTo>
                <a:lnTo>
                  <a:pt x="1017" y="0"/>
                </a:lnTo>
                <a:lnTo>
                  <a:pt x="1357" y="126"/>
                </a:lnTo>
                <a:lnTo>
                  <a:pt x="1018" y="255"/>
                </a:lnTo>
                <a:lnTo>
                  <a:pt x="1018" y="191"/>
                </a:lnTo>
                <a:lnTo>
                  <a:pt x="0" y="192"/>
                </a:lnTo>
                <a:lnTo>
                  <a:pt x="1" y="64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CustomShape 20"/>
          <p:cNvSpPr/>
          <p:nvPr/>
        </p:nvSpPr>
        <p:spPr>
          <a:xfrm rot="12281400">
            <a:off x="6397560" y="6169680"/>
            <a:ext cx="487440" cy="90720"/>
          </a:xfrm>
          <a:custGeom>
            <a:avLst/>
            <a:gdLst/>
            <a:ahLst/>
            <a:rect l="l" t="t" r="r" b="b"/>
            <a:pathLst>
              <a:path w="1358" h="256">
                <a:moveTo>
                  <a:pt x="0" y="63"/>
                </a:moveTo>
                <a:lnTo>
                  <a:pt x="1017" y="62"/>
                </a:lnTo>
                <a:lnTo>
                  <a:pt x="1017" y="0"/>
                </a:lnTo>
                <a:lnTo>
                  <a:pt x="1357" y="127"/>
                </a:lnTo>
                <a:lnTo>
                  <a:pt x="1017" y="255"/>
                </a:lnTo>
                <a:lnTo>
                  <a:pt x="1017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CustomShape 1"/>
          <p:cNvSpPr/>
          <p:nvPr/>
        </p:nvSpPr>
        <p:spPr>
          <a:xfrm>
            <a:off x="544680" y="427680"/>
            <a:ext cx="11360520" cy="47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C-Scan example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03" name="CustomShape 2"/>
          <p:cNvSpPr/>
          <p:nvPr/>
        </p:nvSpPr>
        <p:spPr>
          <a:xfrm>
            <a:off x="543600" y="151200"/>
            <a:ext cx="4871520" cy="22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504" name="" descr=""/>
          <p:cNvPicPr/>
          <p:nvPr/>
        </p:nvPicPr>
        <p:blipFill>
          <a:blip r:embed="rId1"/>
          <a:stretch/>
        </p:blipFill>
        <p:spPr>
          <a:xfrm>
            <a:off x="1371600" y="1828800"/>
            <a:ext cx="2925720" cy="3812400"/>
          </a:xfrm>
          <a:prstGeom prst="rect">
            <a:avLst/>
          </a:prstGeom>
          <a:ln>
            <a:noFill/>
          </a:ln>
        </p:spPr>
      </p:pic>
      <p:pic>
        <p:nvPicPr>
          <p:cNvPr id="505" name="" descr=""/>
          <p:cNvPicPr/>
          <p:nvPr/>
        </p:nvPicPr>
        <p:blipFill>
          <a:blip r:embed="rId2"/>
          <a:stretch/>
        </p:blipFill>
        <p:spPr>
          <a:xfrm>
            <a:off x="4846320" y="1463040"/>
            <a:ext cx="5851440" cy="4388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CustomShape 1"/>
          <p:cNvSpPr/>
          <p:nvPr/>
        </p:nvSpPr>
        <p:spPr>
          <a:xfrm>
            <a:off x="544680" y="427680"/>
            <a:ext cx="11360520" cy="47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Experiments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07" name="CustomShape 2"/>
          <p:cNvSpPr/>
          <p:nvPr/>
        </p:nvSpPr>
        <p:spPr>
          <a:xfrm>
            <a:off x="543600" y="151200"/>
            <a:ext cx="4871520" cy="22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08" name="Line 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Line 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Lin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Lin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513" name="Picture 55" descr="A robot with wheels and arms&#10;&#10;Description automatically generated"/>
          <p:cNvPicPr/>
          <p:nvPr/>
        </p:nvPicPr>
        <p:blipFill>
          <a:blip r:embed="rId1"/>
          <a:stretch/>
        </p:blipFill>
        <p:spPr>
          <a:xfrm>
            <a:off x="640080" y="1097280"/>
            <a:ext cx="3567960" cy="4754880"/>
          </a:xfrm>
          <a:prstGeom prst="rect">
            <a:avLst/>
          </a:prstGeom>
          <a:ln>
            <a:noFill/>
          </a:ln>
        </p:spPr>
      </p:pic>
      <p:pic>
        <p:nvPicPr>
          <p:cNvPr id="514" name="" descr=""/>
          <p:cNvPicPr/>
          <p:nvPr/>
        </p:nvPicPr>
        <p:blipFill>
          <a:blip r:embed="rId2"/>
          <a:srcRect l="26886" t="379" r="40110" b="5454"/>
          <a:stretch/>
        </p:blipFill>
        <p:spPr>
          <a:xfrm>
            <a:off x="4029840" y="1188720"/>
            <a:ext cx="3468240" cy="4572000"/>
          </a:xfrm>
          <a:prstGeom prst="rect">
            <a:avLst/>
          </a:prstGeom>
          <a:ln>
            <a:noFill/>
          </a:ln>
        </p:spPr>
      </p:pic>
      <p:pic>
        <p:nvPicPr>
          <p:cNvPr id="515" name="" descr=""/>
          <p:cNvPicPr/>
          <p:nvPr/>
        </p:nvPicPr>
        <p:blipFill>
          <a:blip r:embed="rId3"/>
          <a:stretch/>
        </p:blipFill>
        <p:spPr>
          <a:xfrm>
            <a:off x="7877160" y="1280160"/>
            <a:ext cx="3918600" cy="4238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C733D9C6487A428B88740F3F817FE0" ma:contentTypeVersion="21" ma:contentTypeDescription="Create a new document." ma:contentTypeScope="" ma:versionID="85c7a5dff1f0661f3996a2b7e2161126">
  <xsd:schema xmlns:xsd="http://www.w3.org/2001/XMLSchema" xmlns:xs="http://www.w3.org/2001/XMLSchema" xmlns:p="http://schemas.microsoft.com/office/2006/metadata/properties" xmlns:ns2="b9887ba6-eee9-4706-bbef-3d72972728aa" xmlns:ns3="f47c8816-27ad-45f9-86d9-8ac5972dd892" targetNamespace="http://schemas.microsoft.com/office/2006/metadata/properties" ma:root="true" ma:fieldsID="5ff8336e86aef6b12ad0bcb64fd53936" ns2:_="" ns3:_="">
    <xsd:import namespace="b9887ba6-eee9-4706-bbef-3d72972728aa"/>
    <xsd:import namespace="f47c8816-27ad-45f9-86d9-8ac5972dd892"/>
    <xsd:element name="properties">
      <xsd:complexType>
        <xsd:sequence>
          <xsd:element name="documentManagement">
            <xsd:complexType>
              <xsd:all>
                <xsd:element ref="ns2:o606121503634f60aadbd34f286ff3d9" minOccurs="0"/>
                <xsd:element ref="ns2:a60e8a9bb7a5498084be0308f3b51622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87ba6-eee9-4706-bbef-3d72972728aa" elementFormDefault="qualified">
    <xsd:import namespace="http://schemas.microsoft.com/office/2006/documentManagement/types"/>
    <xsd:import namespace="http://schemas.microsoft.com/office/infopath/2007/PartnerControls"/>
    <xsd:element name="o606121503634f60aadbd34f286ff3d9" ma:index="8" nillable="true" ma:taxonomy="true" ma:internalName="o606121503634f60aadbd34f286ff3d9" ma:taxonomyFieldName="Document_x0020_Category" ma:displayName="Document Category" ma:readOnly="false" ma:fieldId="{86061215-0363-4f60-aadb-d34f286ff3d9}" ma:taxonomyMulti="true" ma:sspId="b1350db3-1762-4bf1-805b-8e7c55ddee46" ma:termSetId="8467628b-cc19-41c8-84de-1e197b3524f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60e8a9bb7a5498084be0308f3b51622" ma:index="10" nillable="true" ma:taxonomy="true" ma:internalName="a60e8a9bb7a5498084be0308f3b51622" ma:taxonomyFieldName="The_x0020_University" ma:displayName="The University" ma:readOnly="false" ma:fieldId="{a60e8a9b-b7a5-4980-84be-0308f3b51622}" ma:taxonomyMulti="true" ma:sspId="b1350db3-1762-4bf1-805b-8e7c55ddee46" ma:termSetId="d027352d-354c-4edb-9a10-0a26093ac2d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06ff742b-95bc-48cb-bb7d-d83b8427127d}" ma:internalName="TaxCatchAll" ma:showField="CatchAllData" ma:web="b9887ba6-eee9-4706-bbef-3d72972728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c8816-27ad-45f9-86d9-8ac5972dd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alises d’images" ma:readOnly="false" ma:fieldId="{5cf76f15-5ced-4ddc-b409-7134ff3c332f}" ma:taxonomyMulti="true" ma:sspId="b1350db3-1762-4bf1-805b-8e7c55ddee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887ba6-eee9-4706-bbef-3d72972728aa" xsi:nil="true"/>
    <o606121503634f60aadbd34f286ff3d9 xmlns="b9887ba6-eee9-4706-bbef-3d72972728aa">
      <Terms xmlns="http://schemas.microsoft.com/office/infopath/2007/PartnerControls"/>
    </o606121503634f60aadbd34f286ff3d9>
    <a60e8a9bb7a5498084be0308f3b51622 xmlns="b9887ba6-eee9-4706-bbef-3d72972728aa">
      <Terms xmlns="http://schemas.microsoft.com/office/infopath/2007/PartnerControls"/>
    </a60e8a9bb7a5498084be0308f3b51622>
    <lcf76f155ced4ddcb4097134ff3c332f xmlns="f47c8816-27ad-45f9-86d9-8ac5972dd89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64FDA6-8968-4BD9-91FC-549ED86B53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887ba6-eee9-4706-bbef-3d72972728aa"/>
    <ds:schemaRef ds:uri="f47c8816-27ad-45f9-86d9-8ac5972dd8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863BE2-1074-453D-8C43-F08EB45BB408}">
  <ds:schemaRefs>
    <ds:schemaRef ds:uri="a6c533f7-61db-40a9-92cc-7bf39d0de398"/>
    <ds:schemaRef ds:uri="b9887ba6-eee9-4706-bbef-3d72972728aa"/>
    <ds:schemaRef ds:uri="f47c8816-27ad-45f9-86d9-8ac5972dd89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CB98C08-2A96-4627-A7AB-076B37EB6E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2024-02-16T10:12:28Z</dcterms:created>
  <dc:creator>Kerryn RAMM</dc:creator>
  <dc:description/>
  <dc:language>en-US</dc:language>
  <cp:lastModifiedBy/>
  <dcterms:modified xsi:type="dcterms:W3CDTF">2025-04-03T15:37:16Z</dcterms:modified>
  <cp:revision>69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0x01010040C733D9C6487A428B88740F3F817FE0</vt:lpwstr>
  </property>
  <property fmtid="{D5CDD505-2E9C-101B-9397-08002B2CF9AE}" pid="4" name="Document Category">
    <vt:lpwstr/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inksUpToDate">
    <vt:bool>0</vt:bool>
  </property>
  <property fmtid="{D5CDD505-2E9C-101B-9397-08002B2CF9AE}" pid="8" name="MediaServiceImageTags">
    <vt:lpwstr/>
  </property>
  <property fmtid="{D5CDD505-2E9C-101B-9397-08002B2CF9AE}" pid="9" name="Notes">
    <vt:i4>1</vt:i4>
  </property>
  <property fmtid="{D5CDD505-2E9C-101B-9397-08002B2CF9AE}" pid="10" name="PresentationFormat">
    <vt:lpwstr>Widescreen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22</vt:i4>
  </property>
  <property fmtid="{D5CDD505-2E9C-101B-9397-08002B2CF9AE}" pid="14" name="The University">
    <vt:lpwstr/>
  </property>
</Properties>
</file>