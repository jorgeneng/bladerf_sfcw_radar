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0.jpeg" ContentType="image/jpeg"/>
  <Override PartName="/ppt/media/image8.jpeg" ContentType="image/jpeg"/>
  <Override PartName="/ppt/media/image5.png" ContentType="image/png"/>
  <Override PartName="/ppt/media/image9.jpeg" ContentType="image/jpeg"/>
  <Override PartName="/ppt/media/image11.jpeg" ContentType="image/jpeg"/>
  <Override PartName="/ppt/media/image12.jpeg" ContentType="image/jpeg"/>
  <Override PartName="/ppt/media/image7.jpeg" ContentType="image/jpeg"/>
  <Override PartName="/ppt/media/image20.png" ContentType="image/png"/>
  <Override PartName="/ppt/media/image6.jpeg" ContentType="image/jpeg"/>
  <Override PartName="/ppt/media/image13.jpeg" ContentType="image/jpeg"/>
  <Override PartName="/ppt/media/image3.wmf" ContentType="image/x-wmf"/>
  <Override PartName="/ppt/media/image15.jpeg" ContentType="image/jpeg"/>
  <Override PartName="/ppt/media/image2.jpeg" ContentType="image/jpeg"/>
  <Override PartName="/ppt/media/image23.jpeg" ContentType="image/jpeg"/>
  <Override PartName="/ppt/media/image27.png" ContentType="image/png"/>
  <Override PartName="/ppt/media/image25.png" ContentType="image/png"/>
  <Override PartName="/ppt/media/image24.png" ContentType="image/png"/>
  <Override PartName="/ppt/media/image18.jpeg" ContentType="image/jpeg"/>
  <Override PartName="/ppt/media/image22.png" ContentType="image/png"/>
  <Override PartName="/ppt/media/image19.jpeg" ContentType="image/jpeg"/>
  <Override PartName="/ppt/media/image1.jpeg" ContentType="image/jpeg"/>
  <Override PartName="/ppt/media/image4.wmf" ContentType="image/x-wmf"/>
  <Override PartName="/ppt/media/image21.png" ContentType="image/png"/>
  <Override PartName="/ppt/media/image26.png" ContentType="image/png"/>
  <Override PartName="/ppt/media/image17.jpeg" ContentType="image/jpeg"/>
  <Override PartName="/ppt/media/image16.jpeg" ContentType="image/jpeg"/>
  <Override PartName="/ppt/media/image14.jpeg" ContentType="image/jpeg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1" name="Picture 11" descr="A picture containing boat, sitting, water, large&#10;&#10;Description automatically generated"/>
          <p:cNvPicPr/>
          <p:nvPr/>
        </p:nvPicPr>
        <p:blipFill>
          <a:blip r:embed="rId3"/>
          <a:stretch/>
        </p:blipFill>
        <p:spPr>
          <a:xfrm>
            <a:off x="-24840" y="0"/>
            <a:ext cx="12214800" cy="6856200"/>
          </a:xfrm>
          <a:prstGeom prst="rect">
            <a:avLst/>
          </a:prstGeom>
          <a:ln>
            <a:noFill/>
          </a:ln>
        </p:spPr>
      </p:pic>
      <p:sp>
        <p:nvSpPr>
          <p:cNvPr id="2" name="CustomShape 1"/>
          <p:cNvSpPr/>
          <p:nvPr/>
        </p:nvSpPr>
        <p:spPr>
          <a:xfrm>
            <a:off x="952920" y="2551680"/>
            <a:ext cx="5060160" cy="173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DejaVu Sans"/>
              </a:rPr>
              <a:t>Interdisciplinary Centre for Security, Reliability and Trust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24840" y="5825880"/>
            <a:ext cx="12214800" cy="1416600"/>
            <a:chOff x="-24840" y="5825880"/>
            <a:chExt cx="12214800" cy="1416600"/>
          </a:xfrm>
        </p:grpSpPr>
        <p:pic>
          <p:nvPicPr>
            <p:cNvPr id="4" name="Image 5" descr="Bande_Logo_UNI_PP_right_long.eps"/>
            <p:cNvPicPr/>
            <p:nvPr/>
          </p:nvPicPr>
          <p:blipFill>
            <a:blip r:embed="rId4"/>
            <a:srcRect l="42064" t="0" r="2500" b="52663"/>
            <a:stretch/>
          </p:blipFill>
          <p:spPr>
            <a:xfrm>
              <a:off x="-24840" y="5825880"/>
              <a:ext cx="12214800" cy="1053720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CustomShape 3"/>
            <p:cNvSpPr/>
            <p:nvPr/>
          </p:nvSpPr>
          <p:spPr>
            <a:xfrm>
              <a:off x="10500840" y="5987520"/>
              <a:ext cx="959040" cy="892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6" name="Picture 10" descr=""/>
            <p:cNvPicPr/>
            <p:nvPr/>
          </p:nvPicPr>
          <p:blipFill>
            <a:blip r:embed="rId5"/>
            <a:srcRect l="0" t="22054" r="0" b="0"/>
            <a:stretch/>
          </p:blipFill>
          <p:spPr>
            <a:xfrm>
              <a:off x="10151640" y="5987520"/>
              <a:ext cx="1610640" cy="1254960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7" name="Graphic 12" descr=""/>
          <p:cNvPicPr/>
          <p:nvPr/>
        </p:nvPicPr>
        <p:blipFill>
          <a:blip r:embed="rId6"/>
          <a:stretch/>
        </p:blipFill>
        <p:spPr>
          <a:xfrm>
            <a:off x="1070280" y="1386000"/>
            <a:ext cx="1254600" cy="986040"/>
          </a:xfrm>
          <a:prstGeom prst="rect">
            <a:avLst/>
          </a:prstGeom>
          <a:ln>
            <a:noFill/>
          </a:ln>
        </p:spPr>
      </p:pic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20520" cy="585720"/>
          </a:xfrm>
          <a:prstGeom prst="rect">
            <a:avLst/>
          </a:prstGeom>
          <a:ln>
            <a:noFill/>
          </a:ln>
        </p:spPr>
      </p:pic>
      <p:pic>
        <p:nvPicPr>
          <p:cNvPr id="47" name="Picture 12" descr=""/>
          <p:cNvPicPr/>
          <p:nvPr/>
        </p:nvPicPr>
        <p:blipFill>
          <a:blip r:embed="rId3"/>
          <a:stretch/>
        </p:blipFill>
        <p:spPr>
          <a:xfrm flipH="1">
            <a:off x="1080" y="2336040"/>
            <a:ext cx="5480280" cy="452088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123120" y="150840"/>
            <a:ext cx="3711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E13B3A52-DA7D-42F8-81DC-FA5BF3C89D71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49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90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91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2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F8BF7F55-C609-4BF1-A4B5-C2412B281DB5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93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133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134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71E06366-D5BA-4C0A-A96F-07311F5EB3AC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36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176" name="Picture 6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177" name="Line 1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CustomShape 2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B6327FE9-7A36-4390-A239-D37797B7DEF1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179" name="Line 3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219" name="Picture 12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220" name="CustomShape 1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45F3AAC8-ED89-4005-9F4B-9035595FA1B5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21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2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262" name="Picture 12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263" name="CustomShape 1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36234B04-38C1-4288-A678-6AB0D7BAFFF1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264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5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raphic 6" descr=""/>
          <p:cNvPicPr/>
          <p:nvPr/>
        </p:nvPicPr>
        <p:blipFill>
          <a:blip r:embed="rId2"/>
          <a:stretch/>
        </p:blipFill>
        <p:spPr>
          <a:xfrm>
            <a:off x="10370160" y="6176880"/>
            <a:ext cx="1819800" cy="585000"/>
          </a:xfrm>
          <a:prstGeom prst="rect">
            <a:avLst/>
          </a:prstGeom>
          <a:ln>
            <a:noFill/>
          </a:ln>
        </p:spPr>
      </p:pic>
      <p:pic>
        <p:nvPicPr>
          <p:cNvPr id="305" name="Picture 12" descr=""/>
          <p:cNvPicPr/>
          <p:nvPr/>
        </p:nvPicPr>
        <p:blipFill>
          <a:blip r:embed="rId3"/>
          <a:stretch/>
        </p:blipFill>
        <p:spPr>
          <a:xfrm flipH="1">
            <a:off x="1800" y="2336040"/>
            <a:ext cx="5479560" cy="4520160"/>
          </a:xfrm>
          <a:prstGeom prst="rect">
            <a:avLst/>
          </a:prstGeom>
          <a:ln>
            <a:noFill/>
          </a:ln>
        </p:spPr>
      </p:pic>
      <p:sp>
        <p:nvSpPr>
          <p:cNvPr id="306" name="CustomShape 1"/>
          <p:cNvSpPr/>
          <p:nvPr/>
        </p:nvSpPr>
        <p:spPr>
          <a:xfrm>
            <a:off x="123120" y="150840"/>
            <a:ext cx="3704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fld id="{7EC78746-D083-4681-B83B-8AE1AF36382E}" type="slidenum">
              <a:rPr b="0" lang="en-US" sz="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US" sz="800" spc="-1" strike="noStrike">
              <a:latin typeface="Arial"/>
            </a:endParaRPr>
          </a:p>
        </p:txBody>
      </p:sp>
      <p:sp>
        <p:nvSpPr>
          <p:cNvPr id="307" name="Line 2"/>
          <p:cNvSpPr/>
          <p:nvPr/>
        </p:nvSpPr>
        <p:spPr>
          <a:xfrm flipH="1">
            <a:off x="0" y="131760"/>
            <a:ext cx="4381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8" name="Line 3"/>
          <p:cNvSpPr/>
          <p:nvPr/>
        </p:nvSpPr>
        <p:spPr>
          <a:xfrm flipH="1">
            <a:off x="642960" y="131760"/>
            <a:ext cx="115488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</a:t>
            </a:r>
            <a:r>
              <a:rPr b="0" lang="en-US" sz="4400" spc="-1" strike="noStrike">
                <a:latin typeface="Arial"/>
              </a:rPr>
              <a:t>k to </a:t>
            </a:r>
            <a:r>
              <a:rPr b="0" lang="en-US" sz="4400" spc="-1" strike="noStrike">
                <a:latin typeface="Arial"/>
              </a:rPr>
              <a:t>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</a:t>
            </a:r>
            <a:r>
              <a:rPr b="0" lang="en-US" sz="4400" spc="-1" strike="noStrike">
                <a:latin typeface="Arial"/>
              </a:rPr>
              <a:t>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jpeg"/><Relationship Id="rId3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7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8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1828800" y="4937760"/>
            <a:ext cx="950940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32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Ground Penetrating Radar – A SDR Implementation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/>
          <p:cNvSpPr/>
          <p:nvPr/>
        </p:nvSpPr>
        <p:spPr>
          <a:xfrm>
            <a:off x="543600" y="2377440"/>
            <a:ext cx="5464080" cy="4708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Stepped-frequency continuous-wave (SFCW) radar transmits consecutive trains of sinusoidal signals at different frequencies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reflected signals from the targets is transformed into a synthetic pulse in time domain using IDFT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The synthetic pulse reveal the target’s position and other information</a:t>
            </a:r>
            <a:endParaRPr b="0" lang="en-US" sz="1600" spc="-1" strike="noStrike">
              <a:latin typeface="Arial"/>
            </a:endParaRPr>
          </a:p>
          <a:p>
            <a:pPr marL="228600" indent="-2275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Suitable for SDR implementation as SFCW radar requires small instantaneous bandwidth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1"/>
          <a:stretch/>
        </p:blipFill>
        <p:spPr>
          <a:xfrm>
            <a:off x="6614280" y="1444680"/>
            <a:ext cx="4837680" cy="3949560"/>
          </a:xfrm>
          <a:prstGeom prst="rect">
            <a:avLst/>
          </a:prstGeom>
          <a:ln>
            <a:noFill/>
          </a:ln>
        </p:spPr>
      </p:pic>
      <p:sp>
        <p:nvSpPr>
          <p:cNvPr id="350" name="CustomShape 2"/>
          <p:cNvSpPr/>
          <p:nvPr/>
        </p:nvSpPr>
        <p:spPr>
          <a:xfrm>
            <a:off x="543600" y="151200"/>
            <a:ext cx="4872600" cy="23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544680" y="427680"/>
            <a:ext cx="1136160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SFCW Radar Principle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52" name="CustomShape 4"/>
          <p:cNvSpPr/>
          <p:nvPr/>
        </p:nvSpPr>
        <p:spPr>
          <a:xfrm>
            <a:off x="6949440" y="5577840"/>
            <a:ext cx="4296960" cy="48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SFCW radar signals: a) waveform, b) frequencies adn c) spectrogram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</a:t>
            </a: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54" name="CustomShape 2"/>
          <p:cNvSpPr/>
          <p:nvPr/>
        </p:nvSpPr>
        <p:spPr>
          <a:xfrm>
            <a:off x="543600" y="915840"/>
            <a:ext cx="11360880" cy="3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System 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diagram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55" name="CustomShape 3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radar – SDR </a:t>
            </a: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56" name="Line 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Lin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Line 8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361" name="" descr=""/>
          <p:cNvPicPr/>
          <p:nvPr/>
        </p:nvPicPr>
        <p:blipFill>
          <a:blip r:embed="rId1"/>
          <a:stretch/>
        </p:blipFill>
        <p:spPr>
          <a:xfrm>
            <a:off x="2377440" y="1737360"/>
            <a:ext cx="7314840" cy="4110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363" name="Table 2"/>
          <p:cNvGraphicFramePr/>
          <p:nvPr/>
        </p:nvGraphicFramePr>
        <p:xfrm>
          <a:off x="426960" y="1264680"/>
          <a:ext cx="11361960" cy="4689360"/>
        </p:xfrm>
        <a:graphic>
          <a:graphicData uri="http://schemas.openxmlformats.org/drawingml/2006/table">
            <a:tbl>
              <a:tblPr/>
              <a:tblGrid>
                <a:gridCol w="2840400"/>
                <a:gridCol w="1012680"/>
                <a:gridCol w="1971720"/>
                <a:gridCol w="553752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Components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Unit price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Spec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540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Software defined radio with 2x2 MIMO channels. 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47MHz to 6GHz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Max sampling rate: 61.44MHz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BT-100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Power amplifier (TX)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+15.6 dB at 200 MHz, +10.7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BT-200 Bias-tee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Low noise amplifier (RX)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50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Typ Gain: +20.2 db at 200 MHz, +16 db at 2.4 GHz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2.0 micro case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20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PolyCarbonate case for the BladeRF micro A4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1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RFSpace TSA600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74 US dollar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UWB tapered slot antenna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600 MHz to 6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Gain: 7 to 11 dBi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393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ZFDC-20-50-S+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97.53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Directional Coupler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Frequency range: 20 MHz to 2 GHz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Coupling Factor: 19.5 +/- 0.5 dB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BECEN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11.5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-20 dB attenuator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6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SMA cables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8.5 Euro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Male to male</a:t>
                      </a:r>
                      <a:endParaRPr b="0" lang="en-US" sz="12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30 cm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364" name="CustomShape 3"/>
          <p:cNvSpPr/>
          <p:nvPr/>
        </p:nvSpPr>
        <p:spPr>
          <a:xfrm>
            <a:off x="543600" y="915840"/>
            <a:ext cx="11360880" cy="3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BoM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65" name="CustomShape 4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7" name="CustomShape 2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68" name="Line 3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Line 4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Line 5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2" name="Line 7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3465a4"/>
            </a:solidFill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373" name="Picture 55" descr="A robot with wheels and arms&#10;&#10;Description automatically generated"/>
          <p:cNvPicPr/>
          <p:nvPr/>
        </p:nvPicPr>
        <p:blipFill>
          <a:blip r:embed="rId1"/>
          <a:stretch/>
        </p:blipFill>
        <p:spPr>
          <a:xfrm>
            <a:off x="822960" y="731520"/>
            <a:ext cx="4206240" cy="5605200"/>
          </a:xfrm>
          <a:prstGeom prst="rect">
            <a:avLst/>
          </a:prstGeom>
          <a:ln>
            <a:noFill/>
          </a:ln>
        </p:spPr>
      </p:pic>
      <p:pic>
        <p:nvPicPr>
          <p:cNvPr id="374" name="" descr=""/>
          <p:cNvPicPr/>
          <p:nvPr/>
        </p:nvPicPr>
        <p:blipFill>
          <a:blip r:embed="rId2"/>
          <a:srcRect l="26886" t="379" r="40110" b="5454"/>
          <a:stretch/>
        </p:blipFill>
        <p:spPr>
          <a:xfrm>
            <a:off x="6949440" y="549000"/>
            <a:ext cx="4023000" cy="5303160"/>
          </a:xfrm>
          <a:prstGeom prst="rect">
            <a:avLst/>
          </a:prstGeom>
          <a:ln>
            <a:noFill/>
          </a:ln>
        </p:spPr>
      </p:pic>
      <p:sp>
        <p:nvSpPr>
          <p:cNvPr id="375" name="CustomShape 8"/>
          <p:cNvSpPr/>
          <p:nvPr/>
        </p:nvSpPr>
        <p:spPr>
          <a:xfrm>
            <a:off x="5303520" y="2743200"/>
            <a:ext cx="731520" cy="1005840"/>
          </a:xfrm>
          <a:custGeom>
            <a:avLst/>
            <a:gdLst/>
            <a:ahLst/>
            <a:rect l="0" t="0" r="r" b="b"/>
            <a:pathLst>
              <a:path w="2034" h="2796">
                <a:moveTo>
                  <a:pt x="0" y="698"/>
                </a:moveTo>
                <a:lnTo>
                  <a:pt x="1524" y="698"/>
                </a:lnTo>
                <a:lnTo>
                  <a:pt x="1524" y="0"/>
                </a:lnTo>
                <a:lnTo>
                  <a:pt x="2033" y="1397"/>
                </a:lnTo>
                <a:lnTo>
                  <a:pt x="1524" y="2795"/>
                </a:lnTo>
                <a:lnTo>
                  <a:pt x="1524" y="2096"/>
                </a:lnTo>
                <a:lnTo>
                  <a:pt x="0" y="2096"/>
                </a:lnTo>
                <a:lnTo>
                  <a:pt x="0" y="698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6" name="Table 1"/>
          <p:cNvGraphicFramePr/>
          <p:nvPr/>
        </p:nvGraphicFramePr>
        <p:xfrm>
          <a:off x="574200" y="1354320"/>
          <a:ext cx="11025720" cy="1970640"/>
        </p:xfrm>
        <a:graphic>
          <a:graphicData uri="http://schemas.openxmlformats.org/drawingml/2006/table">
            <a:tbl>
              <a:tblPr/>
              <a:tblGrid>
                <a:gridCol w="1268280"/>
                <a:gridCol w="994320"/>
                <a:gridCol w="1270080"/>
                <a:gridCol w="2080440"/>
                <a:gridCol w="5412960"/>
              </a:tblGrid>
              <a:tr h="3049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Library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Version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Licensing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Purpose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Link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libbladeRF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2.5.0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LGPLv2.1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 A4 api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https://github.com/Nuand/bladeRF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86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GNURadio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3.10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GPLv3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SDR development kit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https://github.com/gnuradio/gnuradio/tree/main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822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volk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2.4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GPLv3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The Vector Optimized Library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https://github.com/gnuradio/volk/tree/main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Python3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3.11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PSF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numpy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1.17.4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MIT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https://github.com/numpy/numpy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74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Arial"/>
                        </a:rPr>
                        <a:t>scipy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1.3.3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MIT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https://github.com/scipy/scipy/tree/main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377" name="CustomShape 2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Software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8" name="CustomShape 3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79" name="CustomShape 4"/>
          <p:cNvSpPr/>
          <p:nvPr/>
        </p:nvSpPr>
        <p:spPr>
          <a:xfrm>
            <a:off x="543600" y="916200"/>
            <a:ext cx="11360880" cy="3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List of Dependencies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380" name="CustomShape 5"/>
          <p:cNvSpPr/>
          <p:nvPr/>
        </p:nvSpPr>
        <p:spPr>
          <a:xfrm>
            <a:off x="457200" y="3474720"/>
            <a:ext cx="11360880" cy="3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Software components</a:t>
            </a:r>
            <a:r>
              <a:rPr b="0" lang="en-GB" sz="16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381" name="Table 6"/>
          <p:cNvGraphicFramePr/>
          <p:nvPr/>
        </p:nvGraphicFramePr>
        <p:xfrm>
          <a:off x="545400" y="3864240"/>
          <a:ext cx="11025720" cy="2594880"/>
        </p:xfrm>
        <a:graphic>
          <a:graphicData uri="http://schemas.openxmlformats.org/drawingml/2006/table">
            <a:tbl>
              <a:tblPr/>
              <a:tblGrid>
                <a:gridCol w="1543320"/>
                <a:gridCol w="986040"/>
                <a:gridCol w="1003320"/>
                <a:gridCol w="1394640"/>
                <a:gridCol w="6098760"/>
              </a:tblGrid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Module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Language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DIR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latin typeface="Times New Roman"/>
                        </a:rPr>
                        <a:t>Functions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bladerfRadarBurst_cc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Control bladeRF to transmit CW in different frequencies and receive echo signals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rawSignalSink_cc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c++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lib/ 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Recording raw samples of echo signals to binary file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9060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rangeProfileSink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python/sfcwRadar/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Recording range profile to json file, add gps tags (currently pseudo gps)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radarTxRxSimulator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python/sfcwRadar/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A simulator to test the signal processing algorithm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95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Arial"/>
                        </a:rPr>
                        <a:t>clutterRemover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Developing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python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script/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9211e"/>
                          </a:solidFill>
                          <a:latin typeface="Times New Roman"/>
                        </a:rPr>
                        <a:t>Remove ground clutter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568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sfcwRadarGui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Developed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python+grc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gui/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latin typeface="Times New Roman"/>
                        </a:rPr>
                        <a:t>The graph user interface of the ground penetrating radar. Use it for data collection or onsite survey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" descr=""/>
          <p:cNvPicPr/>
          <p:nvPr/>
        </p:nvPicPr>
        <p:blipFill>
          <a:blip r:embed="rId1"/>
          <a:stretch/>
        </p:blipFill>
        <p:spPr>
          <a:xfrm>
            <a:off x="1881360" y="1645920"/>
            <a:ext cx="7876800" cy="3971520"/>
          </a:xfrm>
          <a:prstGeom prst="rect">
            <a:avLst/>
          </a:prstGeom>
          <a:ln>
            <a:noFill/>
          </a:ln>
        </p:spPr>
      </p:pic>
      <p:sp>
        <p:nvSpPr>
          <p:cNvPr id="383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A-</a:t>
            </a: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scan, </a:t>
            </a: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B-scan </a:t>
            </a: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and C-</a:t>
            </a: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scan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A-scan and B-scan example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5" name="CustomShape 2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386" name="" descr=""/>
          <p:cNvPicPr/>
          <p:nvPr/>
        </p:nvPicPr>
        <p:blipFill>
          <a:blip r:embed="rId1"/>
          <a:stretch/>
        </p:blipFill>
        <p:spPr>
          <a:xfrm>
            <a:off x="1206720" y="1246680"/>
            <a:ext cx="9857160" cy="4970880"/>
          </a:xfrm>
          <a:prstGeom prst="rect">
            <a:avLst/>
          </a:prstGeom>
          <a:ln>
            <a:noFill/>
          </a:ln>
        </p:spPr>
      </p:pic>
      <p:sp>
        <p:nvSpPr>
          <p:cNvPr id="387" name="CustomShape 3"/>
          <p:cNvSpPr/>
          <p:nvPr/>
        </p:nvSpPr>
        <p:spPr>
          <a:xfrm>
            <a:off x="1737360" y="4297680"/>
            <a:ext cx="100548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Metal plate echo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8" name="CustomShape 4"/>
          <p:cNvSpPr/>
          <p:nvPr/>
        </p:nvSpPr>
        <p:spPr>
          <a:xfrm>
            <a:off x="2651760" y="4725360"/>
            <a:ext cx="1005480" cy="43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Ceiling echo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89" name="CustomShape 5"/>
          <p:cNvSpPr/>
          <p:nvPr/>
        </p:nvSpPr>
        <p:spPr>
          <a:xfrm>
            <a:off x="5943600" y="5029200"/>
            <a:ext cx="164556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a metal plate moving back and forth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0" name="CustomShape 6"/>
          <p:cNvSpPr/>
          <p:nvPr/>
        </p:nvSpPr>
        <p:spPr>
          <a:xfrm>
            <a:off x="7589520" y="4114800"/>
            <a:ext cx="10969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211e"/>
                </a:solidFill>
                <a:highlight>
                  <a:srgbClr val="ffff00"/>
                </a:highlight>
                <a:latin typeface="Arial"/>
              </a:rPr>
              <a:t>Ceiling echo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1" name="CustomShape 7"/>
          <p:cNvSpPr/>
          <p:nvPr/>
        </p:nvSpPr>
        <p:spPr>
          <a:xfrm rot="10806000">
            <a:off x="7315560" y="4206960"/>
            <a:ext cx="365400" cy="91080"/>
          </a:xfrm>
          <a:custGeom>
            <a:avLst/>
            <a:gdLst/>
            <a:ahLst/>
            <a:rect l="l" t="t" r="r" b="b"/>
            <a:pathLst>
              <a:path w="1018" h="256">
                <a:moveTo>
                  <a:pt x="0" y="63"/>
                </a:moveTo>
                <a:lnTo>
                  <a:pt x="762" y="63"/>
                </a:lnTo>
                <a:lnTo>
                  <a:pt x="762" y="0"/>
                </a:lnTo>
                <a:lnTo>
                  <a:pt x="1017" y="127"/>
                </a:lnTo>
                <a:lnTo>
                  <a:pt x="763" y="255"/>
                </a:lnTo>
                <a:lnTo>
                  <a:pt x="763" y="191"/>
                </a:lnTo>
                <a:lnTo>
                  <a:pt x="1" y="191"/>
                </a:lnTo>
                <a:lnTo>
                  <a:pt x="0" y="63"/>
                </a:lnTo>
              </a:path>
            </a:pathLst>
          </a:custGeom>
          <a:solidFill>
            <a:srgbClr val="bf0041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CustomShape 8"/>
          <p:cNvSpPr/>
          <p:nvPr/>
        </p:nvSpPr>
        <p:spPr>
          <a:xfrm rot="16728000">
            <a:off x="6419160" y="4674240"/>
            <a:ext cx="365400" cy="91080"/>
          </a:xfrm>
          <a:custGeom>
            <a:avLst/>
            <a:gdLst/>
            <a:ahLst/>
            <a:rect l="l" t="t" r="r" b="b"/>
            <a:pathLst>
              <a:path w="1018" h="256">
                <a:moveTo>
                  <a:pt x="0" y="64"/>
                </a:moveTo>
                <a:lnTo>
                  <a:pt x="762" y="64"/>
                </a:lnTo>
                <a:lnTo>
                  <a:pt x="761" y="0"/>
                </a:lnTo>
                <a:lnTo>
                  <a:pt x="1017" y="128"/>
                </a:lnTo>
                <a:lnTo>
                  <a:pt x="761" y="255"/>
                </a:lnTo>
                <a:lnTo>
                  <a:pt x="762" y="192"/>
                </a:lnTo>
                <a:lnTo>
                  <a:pt x="0" y="192"/>
                </a:lnTo>
                <a:lnTo>
                  <a:pt x="0" y="64"/>
                </a:lnTo>
              </a:path>
            </a:pathLst>
          </a:custGeom>
          <a:solidFill>
            <a:srgbClr val="bf0041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CustomShape 9"/>
          <p:cNvSpPr/>
          <p:nvPr/>
        </p:nvSpPr>
        <p:spPr>
          <a:xfrm rot="10789800">
            <a:off x="1737360" y="5612760"/>
            <a:ext cx="456840" cy="92520"/>
          </a:xfrm>
          <a:custGeom>
            <a:avLst/>
            <a:gdLst/>
            <a:ahLst/>
            <a:rect l="l" t="t" r="r" b="b"/>
            <a:pathLst>
              <a:path w="1272" h="260">
                <a:moveTo>
                  <a:pt x="1" y="65"/>
                </a:moveTo>
                <a:lnTo>
                  <a:pt x="954" y="64"/>
                </a:lnTo>
                <a:lnTo>
                  <a:pt x="954" y="0"/>
                </a:lnTo>
                <a:lnTo>
                  <a:pt x="1271" y="129"/>
                </a:lnTo>
                <a:lnTo>
                  <a:pt x="953" y="259"/>
                </a:lnTo>
                <a:lnTo>
                  <a:pt x="953" y="194"/>
                </a:lnTo>
                <a:lnTo>
                  <a:pt x="0" y="195"/>
                </a:lnTo>
                <a:lnTo>
                  <a:pt x="1" y="65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CustomShape 10"/>
          <p:cNvSpPr/>
          <p:nvPr/>
        </p:nvSpPr>
        <p:spPr>
          <a:xfrm>
            <a:off x="2194560" y="552240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Close to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5" name="CustomShape 11"/>
          <p:cNvSpPr/>
          <p:nvPr/>
        </p:nvSpPr>
        <p:spPr>
          <a:xfrm>
            <a:off x="5156640" y="5612040"/>
            <a:ext cx="456840" cy="91080"/>
          </a:xfrm>
          <a:custGeom>
            <a:avLst/>
            <a:gdLst/>
            <a:ahLst/>
            <a:rect l="l" t="t" r="r" b="b"/>
            <a:pathLst>
              <a:path w="1272" h="256">
                <a:moveTo>
                  <a:pt x="0" y="63"/>
                </a:moveTo>
                <a:lnTo>
                  <a:pt x="953" y="63"/>
                </a:lnTo>
                <a:lnTo>
                  <a:pt x="953" y="0"/>
                </a:lnTo>
                <a:lnTo>
                  <a:pt x="1271" y="127"/>
                </a:lnTo>
                <a:lnTo>
                  <a:pt x="953" y="255"/>
                </a:lnTo>
                <a:lnTo>
                  <a:pt x="953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CustomShape 12"/>
          <p:cNvSpPr/>
          <p:nvPr/>
        </p:nvSpPr>
        <p:spPr>
          <a:xfrm>
            <a:off x="3948480" y="552240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Away from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7" name="CustomShape 13"/>
          <p:cNvSpPr/>
          <p:nvPr/>
        </p:nvSpPr>
        <p:spPr>
          <a:xfrm rot="10789800">
            <a:off x="6309000" y="5666760"/>
            <a:ext cx="456840" cy="92520"/>
          </a:xfrm>
          <a:custGeom>
            <a:avLst/>
            <a:gdLst/>
            <a:ahLst/>
            <a:rect l="l" t="t" r="r" b="b"/>
            <a:pathLst>
              <a:path w="1272" h="260">
                <a:moveTo>
                  <a:pt x="0" y="65"/>
                </a:moveTo>
                <a:lnTo>
                  <a:pt x="953" y="64"/>
                </a:lnTo>
                <a:lnTo>
                  <a:pt x="953" y="0"/>
                </a:lnTo>
                <a:lnTo>
                  <a:pt x="1271" y="128"/>
                </a:lnTo>
                <a:lnTo>
                  <a:pt x="953" y="259"/>
                </a:lnTo>
                <a:lnTo>
                  <a:pt x="953" y="194"/>
                </a:lnTo>
                <a:lnTo>
                  <a:pt x="0" y="195"/>
                </a:lnTo>
                <a:lnTo>
                  <a:pt x="0" y="65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CustomShape 14"/>
          <p:cNvSpPr/>
          <p:nvPr/>
        </p:nvSpPr>
        <p:spPr>
          <a:xfrm>
            <a:off x="6766560" y="557784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Close to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99" name="CustomShape 15"/>
          <p:cNvSpPr/>
          <p:nvPr/>
        </p:nvSpPr>
        <p:spPr>
          <a:xfrm>
            <a:off x="10058400" y="5669280"/>
            <a:ext cx="456840" cy="91080"/>
          </a:xfrm>
          <a:custGeom>
            <a:avLst/>
            <a:gdLst/>
            <a:ahLst/>
            <a:rect l="l" t="t" r="r" b="b"/>
            <a:pathLst>
              <a:path w="1272" h="256">
                <a:moveTo>
                  <a:pt x="0" y="63"/>
                </a:moveTo>
                <a:lnTo>
                  <a:pt x="953" y="63"/>
                </a:lnTo>
                <a:lnTo>
                  <a:pt x="953" y="0"/>
                </a:lnTo>
                <a:lnTo>
                  <a:pt x="1271" y="127"/>
                </a:lnTo>
                <a:lnTo>
                  <a:pt x="953" y="255"/>
                </a:lnTo>
                <a:lnTo>
                  <a:pt x="953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CustomShape 16"/>
          <p:cNvSpPr/>
          <p:nvPr/>
        </p:nvSpPr>
        <p:spPr>
          <a:xfrm>
            <a:off x="8778240" y="5577840"/>
            <a:ext cx="13712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Away from radar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1" name="CustomShape 17"/>
          <p:cNvSpPr/>
          <p:nvPr/>
        </p:nvSpPr>
        <p:spPr>
          <a:xfrm>
            <a:off x="4023360" y="6231240"/>
            <a:ext cx="1279800" cy="60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Click this button to scan just once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2" name="CustomShape 18"/>
          <p:cNvSpPr/>
          <p:nvPr/>
        </p:nvSpPr>
        <p:spPr>
          <a:xfrm>
            <a:off x="6838560" y="6231240"/>
            <a:ext cx="1554120" cy="260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latin typeface="Arial"/>
              </a:rPr>
              <a:t>Scan contentiously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03" name="CustomShape 19"/>
          <p:cNvSpPr/>
          <p:nvPr/>
        </p:nvSpPr>
        <p:spPr>
          <a:xfrm rot="19002600">
            <a:off x="4591080" y="6048000"/>
            <a:ext cx="487800" cy="91080"/>
          </a:xfrm>
          <a:custGeom>
            <a:avLst/>
            <a:gdLst/>
            <a:ahLst/>
            <a:rect l="l" t="t" r="r" b="b"/>
            <a:pathLst>
              <a:path w="1358" h="256">
                <a:moveTo>
                  <a:pt x="1" y="64"/>
                </a:moveTo>
                <a:lnTo>
                  <a:pt x="1017" y="63"/>
                </a:lnTo>
                <a:lnTo>
                  <a:pt x="1017" y="0"/>
                </a:lnTo>
                <a:lnTo>
                  <a:pt x="1357" y="126"/>
                </a:lnTo>
                <a:lnTo>
                  <a:pt x="1018" y="255"/>
                </a:lnTo>
                <a:lnTo>
                  <a:pt x="1018" y="191"/>
                </a:lnTo>
                <a:lnTo>
                  <a:pt x="0" y="192"/>
                </a:lnTo>
                <a:lnTo>
                  <a:pt x="1" y="64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ustomShape 20"/>
          <p:cNvSpPr/>
          <p:nvPr/>
        </p:nvSpPr>
        <p:spPr>
          <a:xfrm rot="12281400">
            <a:off x="6397560" y="6169680"/>
            <a:ext cx="487800" cy="91080"/>
          </a:xfrm>
          <a:custGeom>
            <a:avLst/>
            <a:gdLst/>
            <a:ahLst/>
            <a:rect l="l" t="t" r="r" b="b"/>
            <a:pathLst>
              <a:path w="1358" h="256">
                <a:moveTo>
                  <a:pt x="0" y="63"/>
                </a:moveTo>
                <a:lnTo>
                  <a:pt x="1017" y="62"/>
                </a:lnTo>
                <a:lnTo>
                  <a:pt x="1017" y="0"/>
                </a:lnTo>
                <a:lnTo>
                  <a:pt x="1357" y="127"/>
                </a:lnTo>
                <a:lnTo>
                  <a:pt x="1017" y="255"/>
                </a:lnTo>
                <a:lnTo>
                  <a:pt x="1017" y="191"/>
                </a:lnTo>
                <a:lnTo>
                  <a:pt x="0" y="191"/>
                </a:lnTo>
                <a:lnTo>
                  <a:pt x="0" y="63"/>
                </a:ln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CustomShape 1"/>
          <p:cNvSpPr/>
          <p:nvPr/>
        </p:nvSpPr>
        <p:spPr>
          <a:xfrm>
            <a:off x="544680" y="427680"/>
            <a:ext cx="11360880" cy="474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C-Scan </a:t>
            </a:r>
            <a:r>
              <a:rPr b="1" lang="en-LU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06" name="CustomShape 2"/>
          <p:cNvSpPr/>
          <p:nvPr/>
        </p:nvSpPr>
        <p:spPr>
          <a:xfrm>
            <a:off x="543600" y="151200"/>
            <a:ext cx="4871880" cy="22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800" spc="-1" strike="noStrike">
                <a:solidFill>
                  <a:srgbClr val="808080"/>
                </a:solidFill>
                <a:latin typeface="Arial Black"/>
                <a:ea typeface="DejaVu Sans"/>
              </a:rPr>
              <a:t>Ground penetrating radar – SDR implementation</a:t>
            </a:r>
            <a:endParaRPr b="0" lang="en-US" sz="800" spc="-1" strike="noStrike">
              <a:latin typeface="Arial"/>
            </a:endParaRPr>
          </a:p>
        </p:txBody>
      </p:sp>
      <p:pic>
        <p:nvPicPr>
          <p:cNvPr id="407" name="" descr=""/>
          <p:cNvPicPr/>
          <p:nvPr/>
        </p:nvPicPr>
        <p:blipFill>
          <a:blip r:embed="rId1"/>
          <a:stretch/>
        </p:blipFill>
        <p:spPr>
          <a:xfrm>
            <a:off x="1371600" y="1828800"/>
            <a:ext cx="2926080" cy="3812760"/>
          </a:xfrm>
          <a:prstGeom prst="rect">
            <a:avLst/>
          </a:prstGeom>
          <a:ln>
            <a:noFill/>
          </a:ln>
        </p:spPr>
      </p:pic>
      <p:pic>
        <p:nvPicPr>
          <p:cNvPr id="408" name="" descr=""/>
          <p:cNvPicPr/>
          <p:nvPr/>
        </p:nvPicPr>
        <p:blipFill>
          <a:blip r:embed="rId2"/>
          <a:stretch/>
        </p:blipFill>
        <p:spPr>
          <a:xfrm>
            <a:off x="4846320" y="1463040"/>
            <a:ext cx="5851800" cy="4388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759"/>
      </a:dk2>
      <a:lt2>
        <a:srgbClr val="e7e6e6"/>
      </a:lt2>
      <a:accent1>
        <a:srgbClr val="5a227e"/>
      </a:accent1>
      <a:accent2>
        <a:srgbClr val="f13a31"/>
      </a:accent2>
      <a:accent3>
        <a:srgbClr val="009bda"/>
      </a:accent3>
      <a:accent4>
        <a:srgbClr val="d5bfe4"/>
      </a:accent4>
      <a:accent5>
        <a:srgbClr val="a42c54"/>
      </a:accent5>
      <a:accent6>
        <a:srgbClr val="a0cbe7"/>
      </a:accent6>
      <a:hlink>
        <a:srgbClr val="642982"/>
      </a:hlink>
      <a:folHlink>
        <a:srgbClr val="d5bfe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C733D9C6487A428B88740F3F817FE0" ma:contentTypeVersion="21" ma:contentTypeDescription="Create a new document." ma:contentTypeScope="" ma:versionID="85c7a5dff1f0661f3996a2b7e2161126">
  <xsd:schema xmlns:xsd="http://www.w3.org/2001/XMLSchema" xmlns:xs="http://www.w3.org/2001/XMLSchema" xmlns:p="http://schemas.microsoft.com/office/2006/metadata/properties" xmlns:ns2="b9887ba6-eee9-4706-bbef-3d72972728aa" xmlns:ns3="f47c8816-27ad-45f9-86d9-8ac5972dd892" targetNamespace="http://schemas.microsoft.com/office/2006/metadata/properties" ma:root="true" ma:fieldsID="5ff8336e86aef6b12ad0bcb64fd53936" ns2:_="" ns3:_="">
    <xsd:import namespace="b9887ba6-eee9-4706-bbef-3d72972728aa"/>
    <xsd:import namespace="f47c8816-27ad-45f9-86d9-8ac5972dd892"/>
    <xsd:element name="properties">
      <xsd:complexType>
        <xsd:sequence>
          <xsd:element name="documentManagement">
            <xsd:complexType>
              <xsd:all>
                <xsd:element ref="ns2:o606121503634f60aadbd34f286ff3d9" minOccurs="0"/>
                <xsd:element ref="ns2:a60e8a9bb7a5498084be0308f3b51622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87ba6-eee9-4706-bbef-3d72972728aa" elementFormDefault="qualified">
    <xsd:import namespace="http://schemas.microsoft.com/office/2006/documentManagement/types"/>
    <xsd:import namespace="http://schemas.microsoft.com/office/infopath/2007/PartnerControls"/>
    <xsd:element name="o606121503634f60aadbd34f286ff3d9" ma:index="8" nillable="true" ma:taxonomy="true" ma:internalName="o606121503634f60aadbd34f286ff3d9" ma:taxonomyFieldName="Document_x0020_Category" ma:displayName="Document Category" ma:readOnly="false" ma:fieldId="{86061215-0363-4f60-aadb-d34f286ff3d9}" ma:taxonomyMulti="true" ma:sspId="b1350db3-1762-4bf1-805b-8e7c55ddee46" ma:termSetId="8467628b-cc19-41c8-84de-1e197b3524f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60e8a9bb7a5498084be0308f3b51622" ma:index="10" nillable="true" ma:taxonomy="true" ma:internalName="a60e8a9bb7a5498084be0308f3b51622" ma:taxonomyFieldName="The_x0020_University" ma:displayName="The University" ma:readOnly="false" ma:fieldId="{a60e8a9b-b7a5-4980-84be-0308f3b51622}" ma:taxonomyMulti="true" ma:sspId="b1350db3-1762-4bf1-805b-8e7c55ddee46" ma:termSetId="d027352d-354c-4edb-9a10-0a26093ac2d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06ff742b-95bc-48cb-bb7d-d83b8427127d}" ma:internalName="TaxCatchAll" ma:showField="CatchAllData" ma:web="b9887ba6-eee9-4706-bbef-3d72972728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c8816-27ad-45f9-86d9-8ac5972dd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alises d’images" ma:readOnly="false" ma:fieldId="{5cf76f15-5ced-4ddc-b409-7134ff3c332f}" ma:taxonomyMulti="true" ma:sspId="b1350db3-1762-4bf1-805b-8e7c55ddee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887ba6-eee9-4706-bbef-3d72972728aa" xsi:nil="true"/>
    <o606121503634f60aadbd34f286ff3d9 xmlns="b9887ba6-eee9-4706-bbef-3d72972728aa">
      <Terms xmlns="http://schemas.microsoft.com/office/infopath/2007/PartnerControls"/>
    </o606121503634f60aadbd34f286ff3d9>
    <a60e8a9bb7a5498084be0308f3b51622 xmlns="b9887ba6-eee9-4706-bbef-3d72972728aa">
      <Terms xmlns="http://schemas.microsoft.com/office/infopath/2007/PartnerControls"/>
    </a60e8a9bb7a5498084be0308f3b51622>
    <lcf76f155ced4ddcb4097134ff3c332f xmlns="f47c8816-27ad-45f9-86d9-8ac5972dd89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64FDA6-8968-4BD9-91FC-549ED86B53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887ba6-eee9-4706-bbef-3d72972728aa"/>
    <ds:schemaRef ds:uri="f47c8816-27ad-45f9-86d9-8ac5972dd8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863BE2-1074-453D-8C43-F08EB45BB408}">
  <ds:schemaRefs>
    <ds:schemaRef ds:uri="a6c533f7-61db-40a9-92cc-7bf39d0de398"/>
    <ds:schemaRef ds:uri="b9887ba6-eee9-4706-bbef-3d72972728aa"/>
    <ds:schemaRef ds:uri="f47c8816-27ad-45f9-86d9-8ac5972dd89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CB98C08-2A96-4627-A7AB-076B37EB6E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2024-02-16T10:12:28Z</dcterms:created>
  <dc:creator>Kerryn RAMM</dc:creator>
  <dc:description/>
  <dc:language>en-US</dc:language>
  <cp:lastModifiedBy/>
  <dcterms:modified xsi:type="dcterms:W3CDTF">2024-11-14T18:23:18Z</dcterms:modified>
  <cp:revision>52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0x01010040C733D9C6487A428B88740F3F817FE0</vt:lpwstr>
  </property>
  <property fmtid="{D5CDD505-2E9C-101B-9397-08002B2CF9AE}" pid="4" name="Document Category">
    <vt:lpwstr/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ediaServiceImageTags">
    <vt:lpwstr/>
  </property>
  <property fmtid="{D5CDD505-2E9C-101B-9397-08002B2CF9AE}" pid="9" name="Notes">
    <vt:i4>1</vt:i4>
  </property>
  <property fmtid="{D5CDD505-2E9C-101B-9397-08002B2CF9AE}" pid="10" name="PresentationFormat">
    <vt:lpwstr>Widescreen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22</vt:i4>
  </property>
  <property fmtid="{D5CDD505-2E9C-101B-9397-08002B2CF9AE}" pid="14" name="The University">
    <vt:lpwstr/>
  </property>
</Properties>
</file>